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1 y 3
- estiloOrange_v2026.md, secciones 2, 6, 7 y 13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1, 3.1, 3.4 y 3.5
- estiloOrange_v2026.md, secciones 2 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BB3B-6970-0527-1DC0-02B2D8AB8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AC53A-5B1A-9831-81FB-6DBD5B521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25474-987F-29A1-C7EC-7C85A9D79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1, 3.1, 3.4 y 3.5
- estiloOrange_v2026.md, secciones 2 y 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EA1C-08C1-DEEC-C9F2-662BDF52F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91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1, 3.1 y 3.2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2.2, 3.3, 7.1 y 7.2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2.1, 2.2, 2.3 y 3.2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3.4, 3.5, 7.1 y 7.2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sección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3.3, 5 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sección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DOCUMENTACION_TIBI.md, secciones 4.1, 4.3 y 9
- estiloOrange_v2026.md, secciones 2 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65196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65196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MasOrange TV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5f26b45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73152"/>
            <a:ext cx="610819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73152"/>
            <a:ext cx="2011680" cy="6419088"/>
          </a:xfrm>
          <a:prstGeom prst="rect">
            <a:avLst/>
          </a:prstGeom>
          <a:solidFill>
            <a:srgbClr val="000000">
              <a:alpha val="9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94360" y="749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TIBI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94360" y="1389888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ayuda llega mientras disfrutas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94360" y="276148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Asistente virtual conversacional para incidencias de MasOrange TV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94360" y="3840480"/>
            <a:ext cx="2423160" cy="49377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58952" y="384048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y voz · 24/7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48188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MasOrange · Septiembre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18" name="estos de orange">
            <a:hlinkClick r:id="" action="ppaction://media"/>
            <a:extLst>
              <a:ext uri="{FF2B5EF4-FFF2-40B4-BE49-F238E27FC236}">
                <a16:creationId xmlns:a16="http://schemas.microsoft.com/office/drawing/2014/main" id="{A35DAD03-48BC-6ACF-66B8-23081DB530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A0B1-7991-7666-809C-4B207DAFE43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B52AC5-96C3-C6E5-5E50-9BFD08C34E08}"/>
              </a:ext>
            </a:extLst>
          </p:cNvPr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2D7C9A-EAF9-5CE7-B639-1D2F72181746}"/>
              </a:ext>
            </a:extLst>
          </p:cNvPr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en conversación, sin salir de la televisión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FC5542-5DA6-84BE-0A6C-6D50EC3BC9A9}"/>
              </a:ext>
            </a:extLst>
          </p:cNvPr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TIBI convierte dos incidencias frecuentes en recorridos directos, verificados y trazables.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FAC926-C2EE-235B-79C8-369EB2EBD144}"/>
              </a:ext>
            </a:extLst>
          </p:cNvPr>
          <p:cNvSpPr/>
          <p:nvPr/>
        </p:nvSpPr>
        <p:spPr>
          <a:xfrm>
            <a:off x="594360" y="2048256"/>
            <a:ext cx="3401568" cy="2971800"/>
          </a:xfrm>
          <a:prstGeom prst="rect">
            <a:avLst/>
          </a:prstGeom>
          <a:solidFill>
            <a:srgbClr val="0B0B0B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F4E767-8173-B7BF-4DA9-302544E2BA1E}"/>
              </a:ext>
            </a:extLst>
          </p:cNvPr>
          <p:cNvSpPr/>
          <p:nvPr/>
        </p:nvSpPr>
        <p:spPr>
          <a:xfrm>
            <a:off x="822960" y="22677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7D7048-1A40-4754-C949-ADDB1E2E782D}"/>
              </a:ext>
            </a:extLst>
          </p:cNvPr>
          <p:cNvSpPr/>
          <p:nvPr/>
        </p:nvSpPr>
        <p:spPr>
          <a:xfrm>
            <a:off x="82296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C79036-9348-7AF8-4E91-F45AAE837513}"/>
              </a:ext>
            </a:extLst>
          </p:cNvPr>
          <p:cNvSpPr/>
          <p:nvPr/>
        </p:nvSpPr>
        <p:spPr>
          <a:xfrm>
            <a:off x="822960" y="354787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Restablece credenciales tras verificar DNI y teléfono.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EF93836-352F-959D-CAF7-BC72E982E4E7}"/>
              </a:ext>
            </a:extLst>
          </p:cNvPr>
          <p:cNvSpPr/>
          <p:nvPr/>
        </p:nvSpPr>
        <p:spPr>
          <a:xfrm>
            <a:off x="4416552" y="2048256"/>
            <a:ext cx="3401568" cy="2971800"/>
          </a:xfrm>
          <a:prstGeom prst="rect">
            <a:avLst/>
          </a:prstGeom>
          <a:solidFill>
            <a:srgbClr val="141414"/>
          </a:solidFill>
          <a:ln w="254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1C2A0E-056A-6768-04EC-6090EB2A009A}"/>
              </a:ext>
            </a:extLst>
          </p:cNvPr>
          <p:cNvSpPr/>
          <p:nvPr/>
        </p:nvSpPr>
        <p:spPr>
          <a:xfrm>
            <a:off x="4645152" y="22677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4467AE6-0C25-81A3-AA36-AC83F8DC9052}"/>
              </a:ext>
            </a:extLst>
          </p:cNvPr>
          <p:cNvSpPr/>
          <p:nvPr/>
        </p:nvSpPr>
        <p:spPr>
          <a:xfrm>
            <a:off x="4645152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3CC30B-255C-7311-9B7F-AAC85628EF76}"/>
              </a:ext>
            </a:extLst>
          </p:cNvPr>
          <p:cNvSpPr/>
          <p:nvPr/>
        </p:nvSpPr>
        <p:spPr>
          <a:xfrm>
            <a:off x="4645152" y="354787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Comprueba Netflix, HBO o Prime y abre ticket cuando corresponde.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196F00D-0801-E100-D19F-E64A18BC90F1}"/>
              </a:ext>
            </a:extLst>
          </p:cNvPr>
          <p:cNvSpPr/>
          <p:nvPr/>
        </p:nvSpPr>
        <p:spPr>
          <a:xfrm>
            <a:off x="8238744" y="2048256"/>
            <a:ext cx="3401568" cy="2971800"/>
          </a:xfrm>
          <a:prstGeom prst="rect">
            <a:avLst/>
          </a:prstGeom>
          <a:solidFill>
            <a:srgbClr val="0B0B0B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7F65F5-D0AA-728A-AFDA-EA05CCF559C4}"/>
              </a:ext>
            </a:extLst>
          </p:cNvPr>
          <p:cNvSpPr/>
          <p:nvPr/>
        </p:nvSpPr>
        <p:spPr>
          <a:xfrm>
            <a:off x="8467344" y="22677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56041A-9C4D-8EF5-96C8-CD28F3946A4B}"/>
              </a:ext>
            </a:extLst>
          </p:cNvPr>
          <p:cNvSpPr/>
          <p:nvPr/>
        </p:nvSpPr>
        <p:spPr>
          <a:xfrm>
            <a:off x="8467344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 natural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51F0E9-0B49-7C38-6B87-B0C6E0FCCF58}"/>
              </a:ext>
            </a:extLst>
          </p:cNvPr>
          <p:cNvSpPr/>
          <p:nvPr/>
        </p:nvSpPr>
        <p:spPr>
          <a:xfrm>
            <a:off x="8467344" y="354787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Atiende por texto o dictado de voz desde un panel flotante.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EE3A874-4C35-DED1-78CC-ECD8ED4B6693}"/>
              </a:ext>
            </a:extLst>
          </p:cNvPr>
          <p:cNvSpPr/>
          <p:nvPr/>
        </p:nvSpPr>
        <p:spPr>
          <a:xfrm>
            <a:off x="594360" y="54132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experiencia cercana, simple, positiva y audaz.</a:t>
            </a:r>
            <a:endParaRPr lang="en-US"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07672FA-4AAE-C760-06E3-5B11A0FDF3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0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ayuda visible, ligera y coherente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asistente vive dentro de la interfaz de streaming y conserva el contexto de la conversación.</a:t>
            </a:r>
            <a:endParaRPr lang="en-US" sz="1300" dirty="0"/>
          </a:p>
        </p:txBody>
      </p:sp>
      <p:pic>
        <p:nvPicPr>
          <p:cNvPr id="5" name="Image 0" descr="/mnt/data/3f2c5d31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57150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865376"/>
            <a:ext cx="347472" cy="34747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72084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0" y="1847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flotante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23760" y="2176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Accesible desde cualquier pantalla; se minimiza sin perder el historial.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20840" y="2962656"/>
            <a:ext cx="347472" cy="34747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72084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 flexible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32735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Texto, envío con Enter, renderizado Markdown y dictado de voz en español.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0840" y="4059936"/>
            <a:ext cx="347472" cy="34747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72084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23760" y="40416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continua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23760" y="437083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session_id único mantiene conversaciones multi-turno coherentes.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RECORRIDO DE CLIENTE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incidencia a la solución en cinco pasos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cliente aporta los datos una sola vez; el contexto viaja al agente especialista.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24128" cy="1024128"/>
          </a:xfrm>
          <a:prstGeom prst="rect">
            <a:avLst/>
          </a:prstGeom>
          <a:solidFill>
            <a:srgbClr val="151515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363931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9928" y="2843784"/>
            <a:ext cx="1051560" cy="1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880360" y="2331720"/>
            <a:ext cx="1024128" cy="1024128"/>
          </a:xfrm>
          <a:prstGeom prst="rect">
            <a:avLst/>
          </a:prstGeom>
          <a:solidFill>
            <a:srgbClr val="151515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880360" y="23317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743200" y="363931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Aporta DNI y teléfono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95928" y="2843784"/>
            <a:ext cx="1051560" cy="1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166360" y="2331720"/>
            <a:ext cx="1024128" cy="1024128"/>
          </a:xfrm>
          <a:prstGeom prst="rect">
            <a:avLst/>
          </a:prstGeom>
          <a:solidFill>
            <a:srgbClr val="151515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166360" y="23317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029200" y="363931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TIBI verifica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1928" y="2843784"/>
            <a:ext cx="1051560" cy="1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7452360" y="2331720"/>
            <a:ext cx="1024128" cy="1024128"/>
          </a:xfrm>
          <a:prstGeom prst="rect">
            <a:avLst/>
          </a:prstGeom>
          <a:solidFill>
            <a:srgbClr val="151515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452360" y="23317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315200" y="363931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Deriva al especialista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67928" y="2843784"/>
            <a:ext cx="1051560" cy="1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738360" y="2331720"/>
            <a:ext cx="1024128" cy="1024128"/>
          </a:xfrm>
          <a:prstGeom prst="rect">
            <a:avLst/>
          </a:prstGeom>
          <a:solidFill>
            <a:srgbClr val="FF7900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738360" y="23317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601200" y="3639312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Resuelve o genera ticket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882896"/>
            <a:ext cx="109728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22960" y="4882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 de experiencia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48828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verificación antes de actuar · sin repetir datos · respuesta dentro del mismo canal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orquestador y dos especialistas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conecta la experiencia web con el patrón multi-agente de Google ADK.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546604"/>
            <a:ext cx="2011680" cy="914400"/>
          </a:xfrm>
          <a:prstGeom prst="rect">
            <a:avLst/>
          </a:prstGeom>
          <a:solidFill>
            <a:srgbClr val="151515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67512" y="254660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TV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panel TIBI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63240" y="2546604"/>
            <a:ext cx="1874520" cy="914400"/>
          </a:xfrm>
          <a:prstGeom prst="rect">
            <a:avLst/>
          </a:prstGeom>
          <a:solidFill>
            <a:srgbClr val="151515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136392" y="254660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/api/chat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2226564"/>
            <a:ext cx="2148840" cy="1554480"/>
          </a:xfrm>
          <a:prstGeom prst="rect">
            <a:avLst/>
          </a:prstGeom>
          <a:solidFill>
            <a:srgbClr val="FF7900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513832" y="2226564"/>
            <a:ext cx="200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TIBI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principal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769364"/>
            <a:ext cx="2331720" cy="914400"/>
          </a:xfrm>
          <a:prstGeom prst="rect">
            <a:avLst/>
          </a:prstGeom>
          <a:solidFill>
            <a:srgbClr val="151515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165592" y="1769364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contraseña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3506724"/>
            <a:ext cx="2331720" cy="914400"/>
          </a:xfrm>
          <a:prstGeom prst="rect">
            <a:avLst/>
          </a:prstGeom>
          <a:solidFill>
            <a:srgbClr val="151515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165592" y="3506724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servicios SVA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98480" y="1769364"/>
            <a:ext cx="960120" cy="914400"/>
          </a:xfrm>
          <a:prstGeom prst="rect">
            <a:avLst/>
          </a:prstGeom>
          <a:solidFill>
            <a:srgbClr val="151515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0771632" y="1769364"/>
            <a:ext cx="813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98480" y="3506724"/>
            <a:ext cx="960120" cy="914400"/>
          </a:xfrm>
          <a:prstGeom prst="rect">
            <a:avLst/>
          </a:prstGeom>
          <a:solidFill>
            <a:srgbClr val="151515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771632" y="3506724"/>
            <a:ext cx="813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06040" y="3003804"/>
            <a:ext cx="457200" cy="1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937760" y="3003804"/>
            <a:ext cx="502920" cy="1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 flipV="1">
            <a:off x="7589520" y="2226564"/>
            <a:ext cx="502920" cy="457200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589520" y="3323844"/>
            <a:ext cx="502920" cy="640080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0424160" y="2226564"/>
            <a:ext cx="274320" cy="1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0424160" y="3963924"/>
            <a:ext cx="274320" cy="1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617720" y="4407408"/>
            <a:ext cx="301752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773168" y="44074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LiteLLM corporativo → Claude Sonnet 4.5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544068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Sesiones en memoria · historial compartido · herramientas controladas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flujos, una misma promesa: resolver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especialista actúa mediante herramientas concretas y deja trazabilidad.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212080" cy="3429000"/>
          </a:xfrm>
          <a:prstGeom prst="rect">
            <a:avLst/>
          </a:prstGeom>
          <a:solidFill>
            <a:srgbClr val="101010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95528" y="2084832"/>
            <a:ext cx="502920" cy="50292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95528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50392" y="2852928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el DNI ya verificado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" y="3383280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124712" y="32735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una clave segura de 10 caracteres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" y="3913632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124712" y="38039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 el CSV de credenciales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" y="4443984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124712" y="4334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Devuelve la nueva contraseña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1874520"/>
            <a:ext cx="5212080" cy="3429000"/>
          </a:xfrm>
          <a:prstGeom prst="rect">
            <a:avLst/>
          </a:prstGeom>
          <a:solidFill>
            <a:srgbClr val="101010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400800" y="2084832"/>
            <a:ext cx="502920" cy="50292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008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068312" y="207568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valor añadido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55664" y="2852928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729984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 y normaliza el servicio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55664" y="3383280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729984" y="32735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Comprueba si está contratado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55664" y="3913632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729984" y="38039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un ticket Excalibur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55664" y="4443984"/>
            <a:ext cx="128016" cy="128016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729984" y="4334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 el plazo de resolución indicado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Ligera por fuera, especializada por dentro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pila modular para conversar, verificar, actuar y observar.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0652760" cy="566928"/>
          </a:xfrm>
          <a:prstGeom prst="rect">
            <a:avLst/>
          </a:prstGeom>
          <a:solidFill>
            <a:srgbClr val="181818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82880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· CSS3 · JavaScript · Web Speech API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578608"/>
            <a:ext cx="1065276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05840" y="25786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578608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· Uvicorn · REST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328416"/>
            <a:ext cx="10652760" cy="566928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05840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3328416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ADK 2.10.0 · patrón orquestador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078224"/>
            <a:ext cx="1065276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05840" y="407822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4078224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LiteLLM 1.103.0 · Claude Sonnet 4.5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10652760" cy="566928"/>
          </a:xfrm>
          <a:prstGeom prst="rect">
            <a:avLst/>
          </a:prstGeom>
          <a:solidFill>
            <a:srgbClr val="181818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005840" y="48280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Y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4828032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3.12 · CSV · secrets · logging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Verificar, limitar y registrar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automatización se acota al ámbito de MasOrange TV y a acciones ejecutadas mediante herramientas.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074920" cy="1170432"/>
          </a:xfrm>
          <a:prstGeom prst="rect">
            <a:avLst/>
          </a:prstGeom>
          <a:solidFill>
            <a:srgbClr val="101010"/>
          </a:solidFill>
          <a:ln w="254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50392" y="20848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45059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actúa con datos de cliente sin validar.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5074920" cy="1170432"/>
          </a:xfrm>
          <a:prstGeom prst="rect">
            <a:avLst/>
          </a:prstGeom>
          <a:solidFill>
            <a:srgbClr val="101010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382512" y="20848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82512" y="245059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Rechaza código, arquitectura interna y peticiones fuera de ámbito.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5074920" cy="1170432"/>
          </a:xfrm>
          <a:prstGeom prst="rect">
            <a:avLst/>
          </a:prstGeom>
          <a:solidFill>
            <a:srgbClr val="101010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50392" y="36393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40050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contraseñas se generan con secrets.choice().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5074920" cy="1170432"/>
          </a:xfrm>
          <a:prstGeom prst="rect">
            <a:avLst/>
          </a:prstGeom>
          <a:solidFill>
            <a:srgbClr val="101010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382512" y="36393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40050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logs separan servidor, orquestador, contraseña y servicios.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25780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Resultado: una conversación útil con límites operativos explícitos.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pruebas muestran el alcance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Escenarios preparados para observar el comportamiento feliz y los límites del sistema.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0972800" cy="621792"/>
          </a:xfrm>
          <a:prstGeom prst="rect">
            <a:avLst/>
          </a:prstGeom>
          <a:solidFill>
            <a:srgbClr val="0E0E0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04672" y="18745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472" y="18745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 olvidada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válido → nueva clave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706624"/>
            <a:ext cx="10972800" cy="621792"/>
          </a:xfrm>
          <a:prstGeom prst="rect">
            <a:avLst/>
          </a:prstGeom>
          <a:solidFill>
            <a:srgbClr val="1B1B1B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04672" y="27066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0472" y="27066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HBO no funciona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70662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activo → ticket Excalibur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10972800" cy="621792"/>
          </a:xfrm>
          <a:prstGeom prst="rect">
            <a:avLst/>
          </a:prstGeom>
          <a:solidFill>
            <a:srgbClr val="0E0E0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04672" y="35387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0472" y="35387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 no contratado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353872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clara, sin generar ticket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370832"/>
            <a:ext cx="10972800" cy="621792"/>
          </a:xfrm>
          <a:prstGeom prst="rect">
            <a:avLst/>
          </a:prstGeom>
          <a:solidFill>
            <a:srgbClr val="0E0E0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04672" y="43708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0472" y="43708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incorrectos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437083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Verificación fallida → no actuación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7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adicional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5303520"/>
            <a:ext cx="8915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sobre programación → rechazo elegante y regreso al ámbito de soporte.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680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siguiente paso es convertir la demo en servicio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783080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TIBI ya demuestra el patrón completo: conversación, verificación, especialización y acción.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347472" cy="34747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la experiencia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0998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los escenarios con negocio y atención al cliente.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347472" cy="34747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48056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Industrializar el dato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30998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Migrar CSV y sesión en memoria a servicios de producción.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2788920"/>
            <a:ext cx="347472" cy="347472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7532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Conectar sistemas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30998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Sustituir la simulación de Excalibur por integración corporativa.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658368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41248" y="5074920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asistente reactivo a resolución autónoma, dentro del momento de consumo.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F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b4c039f-23e2-40b6-aac0-78be1568b6cc}" enabled="1" method="Standard" siteId="{c10a36d8-2981-4b7b-9b89-2ef59365493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927</Words>
  <Application>Microsoft Office PowerPoint</Application>
  <PresentationFormat>Panorámica</PresentationFormat>
  <Paragraphs>163</Paragraphs>
  <Slides>11</Slides>
  <Notes>11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MasOrange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TIBI - Asistente virtual de MasOrange TV</dc:title>
  <dc:subject>Presentacion de TIBI</dc:subject>
  <dc:creator>JUAN ANTONIO TORRERO GONZALEZ</dc:creator>
  <cp:lastModifiedBy>JUAN ANTONIO TORRERO GONZALEZ</cp:lastModifiedBy>
  <cp:revision>4</cp:revision>
  <dcterms:created xsi:type="dcterms:W3CDTF">2026-09-29T11:32:10Z</dcterms:created>
  <dcterms:modified xsi:type="dcterms:W3CDTF">2026-09-29T11:58:02Z</dcterms:modified>
</cp:coreProperties>
</file>
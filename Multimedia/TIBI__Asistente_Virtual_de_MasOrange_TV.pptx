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7887"/>
            <a:ext cx="2616993" cy="228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6010275"/>
            <a:ext cx="11277600" cy="390525"/>
          </a:xfrm>
          <a:prstGeom prst="roundRect">
            <a:avLst/>
          </a:prstGeom>
          <a:noFill/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6432" y="514350"/>
            <a:ext cx="9883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Septiembre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5087"/>
            <a:ext cx="8961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FFFFFF"/>
                </a:solidFill>
                <a:latin typeface="ui-sans-serif"/>
              </a:rPr>
              <a:t>TIBI: Inteligencia conversacional para MasOrange 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6687"/>
            <a:ext cx="73152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500" b="0" i="0" u="none">
                <a:solidFill>
                  <a:srgbClr val="D4D4D4"/>
                </a:solidFill>
                <a:latin typeface="ui-sans-serif"/>
              </a:rPr>
              <a:t>Resolución autónoma de credenciales y servicios de streaming mediante orquestación multi-agente y Claude Sonnet 4.5.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"/>
            <a:ext cx="266700" cy="2667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495300"/>
            <a:ext cx="246652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7900"/>
                </a:solidFill>
                <a:latin typeface="ui-sans-serif"/>
              </a:rPr>
              <a:t>MASORANGE TV · INNOVACIÓN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48400"/>
            <a:ext cx="18701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Arquitectura:</a:t>
            </a:r>
            <a:r>
              <a:rPr sz="900" b="0" i="0" u="none">
                <a:solidFill>
                  <a:srgbClr val="A3A3A3"/>
                </a:solidFill>
                <a:latin typeface="ui-sans-serif"/>
              </a:rPr>
              <a:t> Google ADK 2.10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2174" y="6248400"/>
            <a:ext cx="181704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Motor LLM:</a:t>
            </a:r>
            <a:r>
              <a:rPr sz="900" b="0" i="0" u="none">
                <a:solidFill>
                  <a:srgbClr val="A3A3A3"/>
                </a:solidFill>
                <a:latin typeface="ui-sans-serif"/>
              </a:rPr>
              <a:t> Claude Sonnet 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016" y="6248400"/>
            <a:ext cx="12270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Canales:</a:t>
            </a:r>
            <a:r>
              <a:rPr sz="900" b="0" i="0" u="none">
                <a:solidFill>
                  <a:srgbClr val="A3A3A3"/>
                </a:solidFill>
                <a:latin typeface="ui-sans-serif"/>
              </a:rPr>
              <a:t> Texto y Voz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7342" y="6286500"/>
            <a:ext cx="76200" cy="762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9742" y="6248400"/>
            <a:ext cx="141505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ui-sans-serif"/>
              </a:rPr>
              <a:t>Orange Brand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534025"/>
            <a:ext cx="5124450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534025"/>
            <a:ext cx="5124450" cy="2762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2000250"/>
            <a:ext cx="5124450" cy="857250"/>
          </a:xfrm>
          <a:prstGeom prst="roundRect">
            <a:avLst>
              <a:gd name="adj" fmla="val 8888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8425" y="3009900"/>
            <a:ext cx="5124450" cy="857250"/>
          </a:xfrm>
          <a:prstGeom prst="roundRect">
            <a:avLst>
              <a:gd name="adj" fmla="val 8888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576842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01 / Contexto y Misión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1368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MasOrange TV · Especificaciones TIBI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3846" y="6324600"/>
            <a:ext cx="198715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Eco-branding: Modo Oscuro Nativo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605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Visión general y objetivos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2000250"/>
            <a:ext cx="5124450" cy="650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D4D4D4"/>
                </a:solidFill>
                <a:latin typeface="ui-sans-serif"/>
              </a:rPr>
              <a:t>TIBI aborda de manera autosuficiente las incidencias recurrentes de clientes en la plataforma de streaming, aliviando la saturación del canal telefónico tradicional.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543050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8225" y="1562100"/>
            <a:ext cx="248281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ui-sans-serif"/>
              </a:rPr>
              <a:t>Objetivo del asistente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154305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67525" y="1562100"/>
            <a:ext cx="22380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ui-sans-serif"/>
              </a:rPr>
              <a:t>Ámbitos principales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1600200"/>
            <a:ext cx="1333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1525" y="2802731"/>
            <a:ext cx="41098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E5E5E5"/>
                </a:solidFill>
                <a:latin typeface="ui-sans-serif"/>
              </a:rPr>
              <a:t>Disponibilidad inmediata 24/7 sin colas ni tiempos de espera.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107531"/>
            <a:ext cx="40982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E5E5E5"/>
                </a:solidFill>
                <a:latin typeface="ui-sans-serif"/>
              </a:rPr>
              <a:t>Validación automática de identidad sin intervención humana.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412331"/>
            <a:ext cx="405050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E5E5E5"/>
                </a:solidFill>
                <a:latin typeface="ui-sans-serif"/>
              </a:rPr>
              <a:t>Derivación al 1470 solo en casos de complejidad imprevista.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1600200"/>
            <a:ext cx="1524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10350" y="2162175"/>
            <a:ext cx="504063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ui-sans-serif"/>
              </a:rPr>
              <a:t>Credenciales y acceso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350" y="239077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Recuperación y regeneración de contraseñas olvidadas con verificación cruzada en tiempo 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3171825"/>
            <a:ext cx="504063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ui-sans-serif"/>
              </a:rPr>
              <a:t>Servicios de valor añadido (SVA)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40042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Gestión de suscripciones externas incluidas: Netflix, HBO Max y Amazon Prime Video.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481637"/>
            <a:ext cx="3282999" cy="3667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574" y="5481637"/>
            <a:ext cx="3282999" cy="366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5481637"/>
            <a:ext cx="3282999" cy="3667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04925"/>
            <a:ext cx="3683049" cy="4743450"/>
          </a:xfrm>
          <a:prstGeom prst="roundRect">
            <a:avLst>
              <a:gd name="adj" fmla="val 3103"/>
            </a:avLst>
          </a:prstGeom>
          <a:solidFill>
            <a:srgbClr val="121212"/>
          </a:solidFill>
          <a:ln w="381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4549" y="1304925"/>
            <a:ext cx="3683049" cy="4743450"/>
          </a:xfrm>
          <a:prstGeom prst="roundRect">
            <a:avLst>
              <a:gd name="adj" fmla="val 3103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99" y="1304925"/>
            <a:ext cx="3683049" cy="4743450"/>
          </a:xfrm>
          <a:prstGeom prst="roundRect">
            <a:avLst>
              <a:gd name="adj" fmla="val 3103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5676602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02 / Arquitectura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88815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Google ADK Framework · InMemorySessionService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1175" y="6324600"/>
            <a:ext cx="287982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Transferencia transparente sin repetición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596043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Patrón multi-agente con Google ADK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533525"/>
            <a:ext cx="32829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sans-serif"/>
              </a:rPr>
              <a:t>ROL ORQUESTADOR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1724025"/>
            <a:ext cx="344714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Agente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105025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Punto de entrada de cada usuario. Realiza la interacción inicial, valida identidad y delega de manera controlada.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574" y="1504950"/>
            <a:ext cx="32829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3A3A3"/>
                </a:solidFill>
                <a:latin typeface="ui-sans-serif"/>
              </a:rPr>
              <a:t>SUB-AGENTE ESPECIALISTA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4574" y="1695450"/>
            <a:ext cx="344714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Agente Contraseña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4574" y="2076450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Maneja el ciclo de vida del restablecimiento de claves de acceso sin requerir volver a autenticar al usuario.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1504950"/>
            <a:ext cx="32829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3A3A3"/>
                </a:solidFill>
                <a:latin typeface="ui-sans-serif"/>
              </a:rPr>
              <a:t>SUB-AGENTE ESPECIALISTA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8124" y="1695450"/>
            <a:ext cx="344714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Agente Servicios SVA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124" y="2076450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Comprueba suscripciones y canaliza incidencias de plataformas externas hacia el backend corporativo.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2628900"/>
            <a:ext cx="200352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Solicita y coteja DNI y teléfono fijo.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2857500"/>
            <a:ext cx="223822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Ejecuta herramienta verificar_cliente().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3086100"/>
            <a:ext cx="23736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Transfiere contexto completo sin pérdida.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924" y="2600325"/>
            <a:ext cx="242738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Hereda DNI autenticado desde el historial.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924" y="2828925"/>
            <a:ext cx="220250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Genera claves criptográficas robustas.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924" y="3057525"/>
            <a:ext cx="23883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Persiste cambios en el repositorio seguro.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1474" y="2600325"/>
            <a:ext cx="231829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Normaliza alias (HBO Max, Prime Video).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1474" y="2828925"/>
            <a:ext cx="241339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Valida contratación en base de datos SVA.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1474" y="3057525"/>
            <a:ext cx="2447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Dispara ticket formal en sistema Excalibur.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486025"/>
            <a:ext cx="5124450" cy="1162050"/>
          </a:xfrm>
          <a:prstGeom prst="roundRect">
            <a:avLst>
              <a:gd name="adj" fmla="val 6557"/>
            </a:avLst>
          </a:prstGeom>
          <a:solidFill>
            <a:srgbClr val="000000">
              <a:alpha val="8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8425" y="1962150"/>
            <a:ext cx="5124450" cy="600075"/>
          </a:xfrm>
          <a:prstGeom prst="roundRect">
            <a:avLst>
              <a:gd name="adj" fmla="val 6349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2676525"/>
            <a:ext cx="5124450" cy="600075"/>
          </a:xfrm>
          <a:prstGeom prst="roundRect">
            <a:avLst>
              <a:gd name="adj" fmla="val 6349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8425" y="3390900"/>
            <a:ext cx="5124450" cy="600075"/>
          </a:xfrm>
          <a:prstGeom prst="roundRect">
            <a:avLst>
              <a:gd name="adj" fmla="val 6349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593124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03 / Infraestructura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72682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MasOrange Cloud Infrastructure · LiteLLM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2552" y="6324600"/>
            <a:ext cx="257844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Respuestas en tiempo real con alta fiabilidad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62278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Pila tecnológica e integración con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Proxy URL: </a:t>
            </a:r>
            <a:r>
              <a:rPr sz="900" b="0" i="0" u="none">
                <a:solidFill>
                  <a:srgbClr val="D4D4D4"/>
                </a:solidFill>
                <a:latin typeface="ui-sans-serif"/>
              </a:rPr>
              <a:t>llm.tools.cloud.masorange.es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7900"/>
                </a:solidFill>
                <a:latin typeface="ui-sans-serif"/>
              </a:rPr>
              <a:t>Despliegue ligero sin dependencias pesadas innecesarias.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Conexión corporativa segura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196215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TIBI utiliza el modelo Claude Sonnet 4.5 gobernado a través del gateway interno LiteLLM de MasOrange, garantizando privacidad y cumplimiento empresarial.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Servidor y servicios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26479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monospace"/>
              </a:rPr>
              <a:t>// Cadena de invocación segura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8765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monospace"/>
              </a:rPr>
              <a:t>ADK Agent</a:t>
            </a:r>
            <a:r>
              <a:rPr sz="900" b="0" i="0" u="none">
                <a:solidFill>
                  <a:srgbClr val="D4D4D4"/>
                </a:solidFill>
                <a:latin typeface="ui-monospace"/>
              </a:rPr>
              <a:t> → LiteLlm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1051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4D4D4"/>
                </a:solidFill>
                <a:latin typeface="ui-monospace"/>
              </a:rPr>
              <a:t>→ Proxy corporativo MasOrange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33337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4D4D4"/>
                </a:solidFill>
                <a:latin typeface="ui-monospace"/>
              </a:rPr>
              <a:t>→ </a:t>
            </a:r>
            <a:r>
              <a:rPr sz="900" b="0" i="0" u="none">
                <a:solidFill>
                  <a:srgbClr val="FFFFFF"/>
                </a:solidFill>
                <a:latin typeface="ui-monospace"/>
              </a:rPr>
              <a:t>Anthropic Claude Sonnet 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2281237"/>
            <a:ext cx="48768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API REST asíncrona de alta velocidad con endpoints /api/chat y /health.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995612"/>
            <a:ext cx="48768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Mantenimiento de contexto multi-turno en memoria mediante InMemorySessionService.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709987"/>
            <a:ext cx="48768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Uso eficiente del módulo csv nativo y secrets para generación aleatoria criptosegura.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2088356"/>
            <a:ext cx="115192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FastAPI + Uvicorn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8493" y="2085975"/>
            <a:ext cx="640556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FF7900"/>
                </a:solidFill>
                <a:latin typeface="ui-sans-serif"/>
              </a:rPr>
              <a:t>Puerto 8000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2802731"/>
            <a:ext cx="129033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Gestión de sesiones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7132" y="2800350"/>
            <a:ext cx="581917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UUID único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3517106"/>
            <a:ext cx="139258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Python 3.12 Estándar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0222" y="3514725"/>
            <a:ext cx="618827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Pandas-free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410200"/>
            <a:ext cx="5124450" cy="4000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7179171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04 / Experiencia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6324600"/>
            <a:ext cx="288518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MasOrange TV Frontend · Single Page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4492" y="6324600"/>
            <a:ext cx="205650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Accesibilidad inmediata sin refresco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47700"/>
            <a:ext cx="753812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Interfaz MasOrange TV y panel conversacional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7900"/>
                </a:solidFill>
                <a:latin typeface="ui-sans-serif"/>
              </a:rPr>
              <a:t>Mantiene el estado y la sesión al minimizar o navegar.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15430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sans-serif"/>
              </a:rPr>
              <a:t>STREAMING UI NATIVA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17716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ui-sans-serif"/>
              </a:rPr>
              <a:t>Entorno OTT Inmersivo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2190750"/>
            <a:ext cx="51244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Desarrollada en HTML5 puro y JavaScript nativo sin dependencias de frameworks externos. Reproduce fielmente la experiencia visual de un servicio premium de televisión.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15430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sans-serif"/>
              </a:rPr>
              <a:t>WIDGET TIBI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17716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ui-sans-serif"/>
              </a:rPr>
              <a:t>Panel Flotante Conversacional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19075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Accesible desde un botón distintivo en la esquina inferior derecha (380×520 px), garantizando asistencia en cualquier punto de navegación.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900362"/>
            <a:ext cx="36745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Navegación completa: Cine, Series, Deportes, Infantil y Mi Lista.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128962"/>
            <a:ext cx="35782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Hero banner dinámico con reproducción y ficha de metadatos.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357562"/>
            <a:ext cx="29887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Filas de contenido con barras de progreso y badges.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857500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3529012"/>
            <a:ext cx="1905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00850" y="2838450"/>
            <a:ext cx="302924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Entrada por voz nativa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850" y="2990850"/>
            <a:ext cx="3029247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Integración con Web Speech API para dictado en español.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050" y="3509962"/>
            <a:ext cx="31005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Renderizado enriquecido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7050" y="3662362"/>
            <a:ext cx="3100536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Soporte completo de tablas, listas y formato vía marked.js.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5429250"/>
            <a:ext cx="5124450" cy="381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8425" y="1962150"/>
            <a:ext cx="5124450" cy="819150"/>
          </a:xfrm>
          <a:prstGeom prst="roundRect">
            <a:avLst>
              <a:gd name="adj" fmla="val 9302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2933700"/>
            <a:ext cx="5124450" cy="819150"/>
          </a:xfrm>
          <a:prstGeom prst="roundRect">
            <a:avLst>
              <a:gd name="adj" fmla="val 9302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" y="196215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" y="2386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" y="28098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323373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6307038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05 / Funcionalidad Clave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" y="6324600"/>
            <a:ext cx="273322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Módulo de Credenciales · cliente_credencial.csv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1831" y="6324600"/>
            <a:ext cx="310916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Zero Trust: solo actúa sobre identidades comprobadas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647700"/>
            <a:ext cx="662239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Restablecimiento seguro de contraseñas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7900"/>
                </a:solidFill>
                <a:latin typeface="ui-sans-serif"/>
              </a:rPr>
              <a:t>Resolución en menos de 5 segundos.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Flujo paso a paso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Criterios técnicos de seguridad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25" y="196215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" y="19621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00000"/>
                </a:solidFill>
                <a:latin typeface="ui-sans-serif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25" y="2386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" y="238601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" y="28098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125" y="2809875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25" y="323373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125" y="3233737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00000"/>
                </a:solidFill>
                <a:latin typeface="ui-sans-serif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2124075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Aleatoriedad Criptográfica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231457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Generación con secrets.choice() evitando semillas pseudoaleatorias predecibles. Patrón de 10 caracteres con mezcla alfanumérica.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3095625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Auditoría y Trazabilidad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328612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Cada reemplazo de clave deja constancia temporal en agente_contrasena.log con DNI, marca de tiempo y estado del fichero.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025" y="1962150"/>
            <a:ext cx="373186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Solicitud y detección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" y="2114550"/>
            <a:ext cx="373186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El cliente manifiesta el problema de clave; TIBI pide DNI y teléfono fijo.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025" y="2386012"/>
            <a:ext cx="301228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Verificación en base de credenciales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025" y="2538412"/>
            <a:ext cx="3012281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Cotejo estricto de ambos datos en cliente_credencial.csv.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025" y="2809875"/>
            <a:ext cx="318938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Delegación a agente_contrasena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025" y="2962275"/>
            <a:ext cx="3189386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El sub-agente lee el DNI ya verificado sin volver a interrogar.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25" y="3233737"/>
            <a:ext cx="343822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Generación y persistencia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025" y="3386137"/>
            <a:ext cx="3438227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Emisión de nueva credencial y actualización atómica del registro.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5429250"/>
            <a:ext cx="512445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447925"/>
            <a:ext cx="5124450" cy="1162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" y="2486025"/>
            <a:ext cx="5124450" cy="671512"/>
          </a:xfrm>
          <a:prstGeom prst="roundRect">
            <a:avLst>
              <a:gd name="adj" fmla="val 5673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" y="3271837"/>
            <a:ext cx="5124450" cy="828675"/>
          </a:xfrm>
          <a:prstGeom prst="roundRect">
            <a:avLst>
              <a:gd name="adj" fmla="val 4597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680620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06 / Servicios Externos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695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Ticketing Corporativo · Carpeta excalibur_calls/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9556" y="6324600"/>
            <a:ext cx="22614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SLA prioritario de resolución en 2 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71465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Gestión de SVAs e integración con Excalibur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Plataformas gestionadas: Netflix, HBO Max y Amazon Prime Video.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Validación de contratación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96215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El sub-agente normaliza la nomenclatura del cliente y consulta el catálogo relacional N:M de servicios activos en usuarios_servicios.csv.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Ticketing corporativo en Excalibur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196215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D4D4D4"/>
                </a:solidFill>
                <a:latin typeface="ui-sans-serif"/>
              </a:rPr>
              <a:t>Simulación de interfaz con la plataforma troncal de incidencias Excalibur, generando ficheros de trazabilidad con ID normalizado.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350" y="26098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monospace"/>
              </a:rPr>
              <a:t>Ticket ID: EXC-20260929-2412-NET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28384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monospace"/>
              </a:rPr>
              <a:t>DNI: 24942603T | Login: 914942603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0350" y="30670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monospace"/>
              </a:rPr>
              <a:t>Servicio: NETFLIX | SLA: 2 Horas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0350" y="329565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34D399"/>
                </a:solidFill>
                <a:latin typeface="ui-monospace"/>
              </a:rPr>
              <a:t>Estado: NOTIFICADO A EXCALIBUR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667000"/>
            <a:ext cx="192940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Si el servicio está contratado: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76550"/>
            <a:ext cx="48768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Dispara automáticamente la orden de revisión y notifica un SLA prioritario de 2 horas.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452812"/>
            <a:ext cx="216202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sans-serif"/>
              </a:rPr>
              <a:t>Si el servicio NO está contratado: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662362"/>
            <a:ext cx="4876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Informa amablemente del estado de la suscripción y ofrece información comercial para su activación.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3195637"/>
            <a:ext cx="531495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195637"/>
            <a:ext cx="5314950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5643562"/>
            <a:ext cx="5314950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643562"/>
            <a:ext cx="5314950" cy="2428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1304925"/>
            <a:ext cx="5638800" cy="2295525"/>
          </a:xfrm>
          <a:prstGeom prst="roundRect">
            <a:avLst>
              <a:gd name="adj" fmla="val 497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04925"/>
            <a:ext cx="5638800" cy="2295525"/>
          </a:xfrm>
          <a:prstGeom prst="roundRect">
            <a:avLst>
              <a:gd name="adj" fmla="val 497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752850"/>
            <a:ext cx="5638800" cy="2295525"/>
          </a:xfrm>
          <a:prstGeom prst="roundRect">
            <a:avLst>
              <a:gd name="adj" fmla="val 497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3752850"/>
            <a:ext cx="5638800" cy="2295525"/>
          </a:xfrm>
          <a:prstGeom prst="roundRect">
            <a:avLst>
              <a:gd name="adj" fmla="val 497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7334" y="1466850"/>
            <a:ext cx="750540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01511" y="1466850"/>
            <a:ext cx="747563" cy="180975"/>
          </a:xfrm>
          <a:prstGeom prst="roundRect">
            <a:avLst>
              <a:gd name="adj" fmla="val 21052"/>
            </a:avLst>
          </a:prstGeom>
          <a:solidFill>
            <a:srgbClr val="FF79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91856" y="3914775"/>
            <a:ext cx="766018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95992" y="3914775"/>
            <a:ext cx="853082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381000"/>
            <a:ext cx="646583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07 / Observabilidad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324600"/>
            <a:ext cx="323239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Salida dual: Disco a nivel DEBUG + Consola a nivel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3023" y="6324600"/>
            <a:ext cx="1907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Formato uniforme ISO 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647700"/>
            <a:ext cx="678912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Arquitectura de logs estructurados y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1724025"/>
            <a:ext cx="531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Monitorización continua del tráfico web, disponibilidad de endpoints REST y métricas de latencia de 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4125" y="1724025"/>
            <a:ext cx="531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Trazado de sesiones, tasa de éxito en verificación de DNI y teléfono, y detección de patrones de fraude.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4171950"/>
            <a:ext cx="531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Registro inalterable de auditoría sobre quién y cuándo modificó claves de acceso, alertando sobre anomalías repetitivas.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4171950"/>
            <a:ext cx="531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Control de incidencias por proveedor de contenidos, seguimiento de apertura de tickets Excalibur y cumplimiento de SLAs.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1481137"/>
            <a:ext cx="63698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server.log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7334" y="1466850"/>
            <a:ext cx="750540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3534" y="1485900"/>
            <a:ext cx="59814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D4D4D4"/>
                </a:solidFill>
                <a:latin typeface="ui-sans-serif"/>
              </a:rPr>
              <a:t>HTTP &amp; 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125" y="1481137"/>
            <a:ext cx="131400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agente_principal.log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01511" y="1466850"/>
            <a:ext cx="747563" cy="180975"/>
          </a:xfrm>
          <a:prstGeom prst="roundRect">
            <a:avLst>
              <a:gd name="adj" fmla="val 21052"/>
            </a:avLst>
          </a:prstGeom>
          <a:solidFill>
            <a:srgbClr val="FF79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7711" y="1485900"/>
            <a:ext cx="59516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FF7900"/>
                </a:solidFill>
                <a:latin typeface="ui-sans-serif"/>
              </a:rPr>
              <a:t>Orquestador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3929062"/>
            <a:ext cx="1469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agente_contrasena.log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91856" y="3914775"/>
            <a:ext cx="766018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8056" y="3933825"/>
            <a:ext cx="61361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D4D4D4"/>
                </a:solidFill>
                <a:latin typeface="ui-sans-serif"/>
              </a:rPr>
              <a:t>Credenciales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4125" y="3929062"/>
            <a:ext cx="13192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agente_servicios.log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95992" y="3914775"/>
            <a:ext cx="853082" cy="180975"/>
          </a:xfrm>
          <a:prstGeom prst="roundRect">
            <a:avLst>
              <a:gd name="adj" fmla="val 21052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72192" y="3933825"/>
            <a:ext cx="7006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D4D4D4"/>
                </a:solidFill>
                <a:latin typeface="ui-sans-serif"/>
              </a:rPr>
              <a:t>SVAs &amp; Tickets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5429250"/>
            <a:ext cx="5124450" cy="381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304925"/>
            <a:ext cx="5600700" cy="4743450"/>
          </a:xfrm>
          <a:prstGeom prst="roundRect">
            <a:avLst>
              <a:gd name="adj" fmla="val 2409"/>
            </a:avLst>
          </a:prstGeom>
          <a:solidFill>
            <a:srgbClr val="121212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" y="1962150"/>
            <a:ext cx="5124450" cy="828675"/>
          </a:xfrm>
          <a:prstGeom prst="roundRect">
            <a:avLst>
              <a:gd name="adj" fmla="val 4597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" y="2905125"/>
            <a:ext cx="5124450" cy="828675"/>
          </a:xfrm>
          <a:prstGeom prst="roundRect">
            <a:avLst>
              <a:gd name="adj" fmla="val 4597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" y="3848100"/>
            <a:ext cx="5124450" cy="828675"/>
          </a:xfrm>
          <a:prstGeom prst="roundRect">
            <a:avLst>
              <a:gd name="adj" fmla="val 4597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1962150"/>
            <a:ext cx="5124450" cy="819150"/>
          </a:xfrm>
          <a:prstGeom prst="roundRect">
            <a:avLst>
              <a:gd name="adj" fmla="val 9302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425" y="2933700"/>
            <a:ext cx="5124450" cy="819150"/>
          </a:xfrm>
          <a:prstGeom prst="roundRect">
            <a:avLst>
              <a:gd name="adj" fmla="val 9302"/>
            </a:avLst>
          </a:prstGeom>
          <a:solidFill>
            <a:srgbClr val="000000">
              <a:alpha val="60000"/>
            </a:srgbClr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381000"/>
            <a:ext cx="731445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7900"/>
                </a:solidFill>
                <a:latin typeface="ui-sans-serif"/>
              </a:rPr>
              <a:t>08 / Gobernanza y Confianza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82400" y="5715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27940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Seguridad MasOrange · Responsible AI Principles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3068" y="6324600"/>
            <a:ext cx="249793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737373"/>
                </a:solidFill>
                <a:latin typeface="ui-sans-serif"/>
              </a:rPr>
              <a:t>Integridad de datos y privacidad por 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47700"/>
            <a:ext cx="76801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ui-sans-serif"/>
              </a:rPr>
              <a:t>Guardianes de seguridad y protección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5657850"/>
            <a:ext cx="512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7900"/>
                </a:solidFill>
                <a:latin typeface="ui-sans-serif"/>
              </a:rPr>
              <a:t>Barreras activas a nivel de prompt y callback en Google ADK.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Restricciones inviolables del sistema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1543050"/>
            <a:ext cx="5380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ui-sans-serif"/>
              </a:rPr>
              <a:t>Integridad y 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143125"/>
            <a:ext cx="163413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Defensa contra Jailbreak: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352675"/>
            <a:ext cx="4876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Rechazo estricto ante preguntas sobre su arquitectura, modelos internos o instrucciones de sistema.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3086100"/>
            <a:ext cx="2193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Bloqueo de generación de código: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3295650"/>
            <a:ext cx="4876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Instrucción taxativa que impide generar scripts, comandos o código fuente a solicitud del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4029075"/>
            <a:ext cx="223271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Contención del ámbito de soporte: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4238625"/>
            <a:ext cx="4876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3A3A3"/>
                </a:solidFill>
                <a:latin typeface="ui-sans-serif"/>
              </a:rPr>
              <a:t>Filtro temático estricto: cualquier consulta ajena a MasOrange TV se redirige al teléfono 1470.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350" y="2124075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Cero Alucinaciones Operativas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231457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TIBI jamás inventa contraseñas, confirmaciones ni estados de servicio; toda acción responde al resultado de una herramienta real.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095625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ui-sans-serif"/>
              </a:rPr>
              <a:t>Validación Previa Ineludible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286125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Ningún sub-agente ejecuta acciones destructivas o de modificación sin que el par DNI y teléfono haya sido validado previamente.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90837"/>
            <a:ext cx="4152900" cy="1314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2890837"/>
            <a:ext cx="4152900" cy="13144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6010275"/>
            <a:ext cx="11277600" cy="390525"/>
          </a:xfrm>
          <a:prstGeom prst="roundRect">
            <a:avLst/>
          </a:prstGeom>
          <a:noFill/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5232" y="495300"/>
            <a:ext cx="12995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Hackathon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4987"/>
            <a:ext cx="896112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700" b="1" i="0" u="none">
                <a:solidFill>
                  <a:srgbClr val="FFFFFF"/>
                </a:solidFill>
                <a:latin typeface="ui-sans-serif"/>
              </a:rPr>
              <a:t>Impacto tangible en operaciones y evolución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48400"/>
            <a:ext cx="221545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TIBI — Asistente Virtual MasOrange TV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"/>
            <a:ext cx="228600" cy="2286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495300"/>
            <a:ext cx="154260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7900"/>
                </a:solidFill>
                <a:latin typeface="ui-sans-serif"/>
              </a:rPr>
              <a:t>09 / CIERRE Y FUTURO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38544" y="6286500"/>
            <a:ext cx="76200" cy="76200"/>
          </a:xfrm>
          <a:prstGeom prst="round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90944" y="6248400"/>
            <a:ext cx="84385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ui-sans-serif"/>
              </a:rPr>
              <a:t>Orange is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3090862"/>
            <a:ext cx="3752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7900"/>
                </a:solidFill>
                <a:latin typeface="ui-sans-serif"/>
              </a:rPr>
              <a:t>-35%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471862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ui-sans-serif"/>
              </a:rPr>
              <a:t>Volumen al call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700462"/>
            <a:ext cx="3752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Reducción directa de llamadas de primer nivel al teléfono 1470 por claves y accesos.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725" y="3090862"/>
            <a:ext cx="3752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7900"/>
                </a:solidFill>
                <a:latin typeface="ui-sans-serif"/>
              </a:rPr>
              <a:t>&lt;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725" y="3471862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ui-sans-serif"/>
              </a:rPr>
              <a:t>Tiempo medio de resolución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725" y="3700462"/>
            <a:ext cx="3752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3A3A3"/>
                </a:solidFill>
                <a:latin typeface="ui-sans-serif"/>
              </a:rPr>
              <a:t>Autoservicio inmediato frente a los 8 minutos habituales en canal tradicional.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433887"/>
            <a:ext cx="697110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D4D4D4"/>
                </a:solidFill>
                <a:latin typeface="ui-sans-serif"/>
              </a:rPr>
              <a:t>Próximo paso técnico:</a:t>
            </a:r>
            <a:r>
              <a:rPr sz="1050" b="0" i="0" u="none">
                <a:solidFill>
                  <a:srgbClr val="D4D4D4"/>
                </a:solidFill>
                <a:latin typeface="ui-sans-serif"/>
              </a:rPr>
              <a:t> Migración de repositorios CSV a base de datos transaccional con concurrencia.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700587"/>
            <a:ext cx="62204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D4D4D4"/>
                </a:solidFill>
                <a:latin typeface="ui-sans-serif"/>
              </a:rPr>
              <a:t>Integración de canal:</a:t>
            </a:r>
            <a:r>
              <a:rPr sz="1050" b="0" i="0" u="none">
                <a:solidFill>
                  <a:srgbClr val="D4D4D4"/>
                </a:solidFill>
                <a:latin typeface="ui-sans-serif"/>
              </a:rPr>
              <a:t> Conector API directo en tiempo real con la plataforma Excalibur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
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05840" cy="1005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86868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3200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Arial"/>
              </a:rPr>
              <a:t>Trabajo de Fin de Grado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06040"/>
            <a:ext cx="2011680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320040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Arquitectura multi-agente con Google ADK, FastAPI y ejecución determinista de herramientas.</a:t>
            </a:r>
          </a:p>
          <a:p>
            <a:pPr algn="l">
              <a:spcBef>
                <a:spcPts val="1800"/>
              </a:spcBef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Autor: Daniel Braun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Proyecto: TIBI_AgenteIA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325880"/>
            <a:ext cx="694944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7900"/>
                </a:solidFill>
                <a:latin typeface="Arial"/>
              </a:rPr>
              <a:t>Inteligencia Artificial aplicada a operaciones de televisión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783080"/>
            <a:ext cx="7040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7900"/>
                </a:solidFill>
                <a:latin typeface="Arial"/>
              </a:rPr>
              <a:t>TIBI: </a:t>
            </a:r>
            <a:r>
              <a:rPr sz="3600" b="1">
                <a:solidFill>
                  <a:srgbClr val="FFFFFF"/>
                </a:solidFill>
                <a:latin typeface="Arial"/>
              </a:rPr>
              <a:t>Agente inteligente de resolución de incidencias en MasOrange TV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977639"/>
            <a:ext cx="6949440" cy="713232"/>
          </a:xfrm>
          <a:prstGeom prst="rect">
            <a:avLst/>
          </a:prstGeom>
          <a:solidFill>
            <a:srgbClr val="161616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3977639"/>
            <a:ext cx="109728" cy="71323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4032503"/>
            <a:ext cx="658368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FF7900"/>
                </a:solidFill>
                <a:latin typeface="Arial"/>
              </a:rPr>
              <a:t>1. Arquitectura modular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4288536"/>
            <a:ext cx="658368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rial"/>
              </a:rPr>
              <a:t>Separación estricta en 4 capas: interfaz web, API REST/WebSocket, orquestación ADK y persistencia.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4818888"/>
            <a:ext cx="6949440" cy="713232"/>
          </a:xfrm>
          <a:prstGeom prst="rect">
            <a:avLst/>
          </a:prstGeom>
          <a:solidFill>
            <a:srgbClr val="161616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4818888"/>
            <a:ext cx="109728" cy="71323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92040" y="4873751"/>
            <a:ext cx="658368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FF7900"/>
                </a:solidFill>
                <a:latin typeface="Arial"/>
              </a:rPr>
              <a:t>2. Patrón multi-agente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5129783"/>
            <a:ext cx="658368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rial"/>
              </a:rPr>
              <a:t>Agente padre orquestador que enruta hacia 2 sub-agentes especialistas (Cuentas y Servicios SVA).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5660136"/>
            <a:ext cx="6949440" cy="713232"/>
          </a:xfrm>
          <a:prstGeom prst="rect">
            <a:avLst/>
          </a:prstGeom>
          <a:solidFill>
            <a:srgbClr val="161616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3440" y="5660136"/>
            <a:ext cx="109728" cy="71323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5714999"/>
            <a:ext cx="658368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FF7900"/>
                </a:solidFill>
                <a:latin typeface="Arial"/>
              </a:rPr>
              <a:t>3. Trazabilidad y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5971031"/>
            <a:ext cx="658368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rial"/>
              </a:rPr>
              <a:t>Validación determinista sobre bases de datos CSV y generación automática de tickets en Excalibur.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1323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14400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FF7900"/>
                </a:solidFill>
                <a:latin typeface="Arial"/>
              </a:rPr>
              <a:t>1. Ingeniería del software y organización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566928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Esqueleto del proyecto: </a:t>
            </a:r>
            <a:r>
              <a:rPr sz="2500" b="1">
                <a:solidFill>
                  <a:srgbClr val="FF7900"/>
                </a:solidFill>
                <a:latin typeface="Arial"/>
              </a:rPr>
              <a:t>dónde está cada componente y por qué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83112" cy="1828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548640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rial"/>
              </a:rPr>
              <a:t>TIBI ▪ Agente IA de soporte técnico MasOrange TV ▪ TFG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11712" y="6547104"/>
            <a:ext cx="274320" cy="20116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44200" y="6537960"/>
            <a:ext cx="621792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1">
                <a:solidFill>
                  <a:srgbClr val="FF7900"/>
                </a:solidFill>
                <a:latin typeface="Arial"/>
              </a:rPr>
              <a:t>2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80160"/>
            <a:ext cx="4160520" cy="5029200"/>
          </a:xfrm>
          <a:prstGeom prst="rect">
            <a:avLst/>
          </a:prstGeom>
          <a:solidFill>
            <a:srgbClr val="161616"/>
          </a:solidFill>
          <a:ln w="2286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80160"/>
            <a:ext cx="4160520" cy="43891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353312"/>
            <a:ext cx="39319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Estructura del repositorio (TIBI_AgenteIA/)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847088"/>
            <a:ext cx="1600200" cy="402336"/>
          </a:xfrm>
          <a:prstGeom prst="rect">
            <a:avLst/>
          </a:prstGeom>
          <a:solidFill>
            <a:srgbClr val="000000"/>
          </a:solidFill>
          <a:ln w="127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920240"/>
            <a:ext cx="1508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FF7900"/>
                </a:solidFill>
                <a:latin typeface="Arial"/>
              </a:rPr>
              <a:t>app/agent.py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1892807"/>
            <a:ext cx="224028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Cerebro multi-agente (3 agentes ADK y prompts)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395728"/>
            <a:ext cx="1600200" cy="402336"/>
          </a:xfrm>
          <a:prstGeom prst="rect">
            <a:avLst/>
          </a:prstGeom>
          <a:solidFill>
            <a:srgbClr val="000000"/>
          </a:solidFill>
          <a:ln w="127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468880"/>
            <a:ext cx="1508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FF7900"/>
                </a:solidFill>
                <a:latin typeface="Arial"/>
              </a:rPr>
              <a:t>tools/*.py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441448"/>
            <a:ext cx="224028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csv_tools.py y excalibur_tools.py (acceso a datos)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2944368"/>
            <a:ext cx="1600200" cy="402336"/>
          </a:xfrm>
          <a:prstGeom prst="rect">
            <a:avLst/>
          </a:prstGeom>
          <a:solidFill>
            <a:srgbClr val="000000"/>
          </a:solidFill>
          <a:ln w="127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3017520"/>
            <a:ext cx="1508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FF7900"/>
                </a:solidFill>
                <a:latin typeface="Arial"/>
              </a:rPr>
              <a:t>ficheros/*.csv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90087"/>
            <a:ext cx="224028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cliente_credencial 1.csv y usuarios_servicios.csv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493008"/>
            <a:ext cx="1600200" cy="402336"/>
          </a:xfrm>
          <a:prstGeom prst="rect">
            <a:avLst/>
          </a:prstGeom>
          <a:solidFill>
            <a:srgbClr val="000000"/>
          </a:solidFill>
          <a:ln w="127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566160"/>
            <a:ext cx="1508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FF7900"/>
                </a:solidFill>
                <a:latin typeface="Arial"/>
              </a:rPr>
              <a:t>excalibur_calls/*.txt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538727"/>
            <a:ext cx="224028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Almacén auditable de tickets escalados a Nivel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041648"/>
            <a:ext cx="1600200" cy="402336"/>
          </a:xfrm>
          <a:prstGeom prst="rect">
            <a:avLst/>
          </a:prstGeom>
          <a:solidFill>
            <a:srgbClr val="000000"/>
          </a:solidFill>
          <a:ln w="127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114800"/>
            <a:ext cx="1508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FF7900"/>
                </a:solidFill>
                <a:latin typeface="Arial"/>
              </a:rPr>
              <a:t>logs/*.log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4087368"/>
            <a:ext cx="224028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Registro técnico por agente, servidor y tools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590288"/>
            <a:ext cx="1600200" cy="402336"/>
          </a:xfrm>
          <a:prstGeom prst="rect">
            <a:avLst/>
          </a:prstGeom>
          <a:solidFill>
            <a:srgbClr val="000000"/>
          </a:solidFill>
          <a:ln w="127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663440"/>
            <a:ext cx="1508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FF7900"/>
                </a:solidFill>
                <a:latin typeface="Arial"/>
              </a:rPr>
              <a:t>static/tv.html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4636007"/>
            <a:ext cx="224028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Interfaz web MasOrange TV + chat embebido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138927"/>
            <a:ext cx="1600200" cy="402336"/>
          </a:xfrm>
          <a:prstGeom prst="rect">
            <a:avLst/>
          </a:prstGeom>
          <a:solidFill>
            <a:srgbClr val="000000"/>
          </a:solidFill>
          <a:ln w="127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212079"/>
            <a:ext cx="1508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FF7900"/>
                </a:solidFill>
                <a:latin typeface="Arial"/>
              </a:rPr>
              <a:t>server.py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5184647"/>
            <a:ext cx="224028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Backend FastAPI (/api/chat + /ws/heartbeat)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687568"/>
            <a:ext cx="1600200" cy="402336"/>
          </a:xfrm>
          <a:prstGeom prst="rect">
            <a:avLst/>
          </a:prstGeom>
          <a:solidFill>
            <a:srgbClr val="000000"/>
          </a:solidFill>
          <a:ln w="127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5760720"/>
            <a:ext cx="1508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FF7900"/>
                </a:solidFill>
                <a:latin typeface="Arial"/>
              </a:rPr>
              <a:t>instalador.py / *.bat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5733288"/>
            <a:ext cx="224028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Despliegue automatizado y multi-proveedor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92040" y="1280160"/>
            <a:ext cx="6793992" cy="1143000"/>
          </a:xfrm>
          <a:prstGeom prst="rect">
            <a:avLst/>
          </a:prstGeom>
          <a:solidFill>
            <a:srgbClr val="FF7900"/>
          </a:solidFill>
          <a:ln w="1905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0" y="1371600"/>
            <a:ext cx="64008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Capa 1 ▪ Presentación (static/tv.html)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1682495"/>
            <a:ext cx="6400800" cy="6583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000000"/>
                </a:solidFill>
                <a:latin typeface="Arial"/>
              </a:rPr>
              <a:t>Desacopla la vista del modelo. Simula el portal real de Smart TV e inyecta el widget de chat sin lógica de negocio en el navegador.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92040" y="2560320"/>
            <a:ext cx="6793992" cy="1143000"/>
          </a:xfrm>
          <a:prstGeom prst="rect">
            <a:avLst/>
          </a:prstGeom>
          <a:solidFill>
            <a:srgbClr val="161616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92040" y="2560320"/>
            <a:ext cx="128016" cy="1143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20640" y="2651760"/>
            <a:ext cx="64008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FF7900"/>
                </a:solidFill>
                <a:latin typeface="Arial"/>
              </a:rPr>
              <a:t>Capa 2 ▪ Transporte y sesión (server.py)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0640" y="2962656"/>
            <a:ext cx="6400800" cy="6583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rial"/>
              </a:rPr>
              <a:t>FastAPI gestiona peticiones asíncronas, conserva la memoria de cada conversación en RAM (InMemorySessionService) y apaga el servidor por WebSocket al cerrar la pestaña.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92040" y="3840479"/>
            <a:ext cx="6793992" cy="1143000"/>
          </a:xfrm>
          <a:prstGeom prst="rect">
            <a:avLst/>
          </a:prstGeom>
          <a:solidFill>
            <a:srgbClr val="161616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92040" y="3840479"/>
            <a:ext cx="128016" cy="1143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20640" y="3931919"/>
            <a:ext cx="64008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FF7900"/>
                </a:solidFill>
                <a:latin typeface="Arial"/>
              </a:rPr>
              <a:t>Capa 3 ▪ Cognitiva multi-agente (app/agent.py)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0640" y="4242816"/>
            <a:ext cx="6400800" cy="6583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rial"/>
              </a:rPr>
              <a:t>Aísla los prompts e instrucciones en agentes especializados. Cambiar de modelo (Claude, Gemini o Groq) requiere tocar un único fichero.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92040" y="5120640"/>
            <a:ext cx="6793992" cy="1143000"/>
          </a:xfrm>
          <a:prstGeom prst="rect">
            <a:avLst/>
          </a:prstGeom>
          <a:solidFill>
            <a:srgbClr val="161616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892040" y="5120640"/>
            <a:ext cx="128016" cy="1143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20640" y="5212079"/>
            <a:ext cx="64008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FF7900"/>
                </a:solidFill>
                <a:latin typeface="Arial"/>
              </a:rPr>
              <a:t>Capa 4 ▪ Datos, herramientas y auditoría (tools/ + ficheros/ + excalibur_calls/)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5522976"/>
            <a:ext cx="6400800" cy="6583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rial"/>
              </a:rPr>
              <a:t>El LLM nunca toca los CSV directamente: invoca herramientas Python tipadas que validan datos, mutan contraseñas y escriben tickets .txt auditables.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1323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14400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FF7900"/>
                </a:solidFill>
                <a:latin typeface="Arial"/>
              </a:rPr>
              <a:t>2. Pipeline de ejecución extremo a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566928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Flujo de trabajo: </a:t>
            </a:r>
            <a:r>
              <a:rPr sz="2500" b="1">
                <a:solidFill>
                  <a:srgbClr val="FF7900"/>
                </a:solidFill>
                <a:latin typeface="Arial"/>
              </a:rPr>
              <a:t>del mensaje del cliente a la acción en base de datos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83112" cy="1828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548640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rial"/>
              </a:rPr>
              <a:t>TIBI ▪ Agente IA de soporte técnico MasOrange TV ▪ TFG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11712" y="6547104"/>
            <a:ext cx="274320" cy="20116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44200" y="6537960"/>
            <a:ext cx="621792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1">
                <a:solidFill>
                  <a:srgbClr val="FF7900"/>
                </a:solidFill>
                <a:latin typeface="Arial"/>
              </a:rPr>
              <a:t>3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2057400" cy="47548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435608"/>
            <a:ext cx="1911095" cy="32918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Paso 1 ▪ Cliente en Web TV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2057400" cy="2148840"/>
          </a:xfrm>
          <a:prstGeom prst="rect">
            <a:avLst/>
          </a:prstGeom>
          <a:solidFill>
            <a:srgbClr val="161616"/>
          </a:solidFill>
          <a:ln w="1524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" y="1975104"/>
            <a:ext cx="1837943" cy="310896"/>
          </a:xfrm>
          <a:prstGeom prst="rect">
            <a:avLst/>
          </a:prstGeom>
          <a:solidFill>
            <a:srgbClr val="000000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011680"/>
            <a:ext cx="176479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7900"/>
                </a:solidFill>
                <a:latin typeface="Arial"/>
              </a:rPr>
              <a:t>static/tv.html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395728"/>
            <a:ext cx="1837943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Envía consulta por texto o voz junto a su session_id vía POST /api/chat.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587751" y="2606040"/>
            <a:ext cx="155448" cy="292608"/>
          </a:xfrm>
          <a:prstGeom prst="rightArrow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70632" y="1371600"/>
            <a:ext cx="2057400" cy="47548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43784" y="1435608"/>
            <a:ext cx="1911095" cy="32918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Paso 2 ▪ API y Memoria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847088"/>
            <a:ext cx="2057400" cy="2148840"/>
          </a:xfrm>
          <a:prstGeom prst="rect">
            <a:avLst/>
          </a:prstGeom>
          <a:solidFill>
            <a:srgbClr val="161616"/>
          </a:solidFill>
          <a:ln w="1524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80360" y="1975104"/>
            <a:ext cx="1837943" cy="310896"/>
          </a:xfrm>
          <a:prstGeom prst="rect">
            <a:avLst/>
          </a:prstGeom>
          <a:solidFill>
            <a:srgbClr val="000000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16936" y="2011680"/>
            <a:ext cx="176479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7900"/>
                </a:solidFill>
                <a:latin typeface="Arial"/>
              </a:rPr>
              <a:t>server.py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2395728"/>
            <a:ext cx="1837943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FastAPI recupera el historial de la sesión y pasa el mensaje al Runner de Google ADK.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855464" y="2606040"/>
            <a:ext cx="155448" cy="292608"/>
          </a:xfrm>
          <a:prstGeom prst="rightArrow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38344" y="1371600"/>
            <a:ext cx="2057400" cy="47548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11496" y="1435608"/>
            <a:ext cx="1911095" cy="32918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Paso 3 ▪ Enrutado Semántico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8344" y="1847088"/>
            <a:ext cx="2057400" cy="2148840"/>
          </a:xfrm>
          <a:prstGeom prst="rect">
            <a:avLst/>
          </a:prstGeom>
          <a:solidFill>
            <a:srgbClr val="161616"/>
          </a:solidFill>
          <a:ln w="1524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48072" y="1975104"/>
            <a:ext cx="1837943" cy="310896"/>
          </a:xfrm>
          <a:prstGeom prst="rect">
            <a:avLst/>
          </a:prstGeom>
          <a:solidFill>
            <a:srgbClr val="000000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84648" y="2011680"/>
            <a:ext cx="176479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7900"/>
                </a:solidFill>
                <a:latin typeface="Arial"/>
              </a:rPr>
              <a:t>app/agent.py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48072" y="2395728"/>
            <a:ext cx="1837943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El agente padre (TIBI) analiza la intención y delega en el sub-agente especialista.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23176" y="2606040"/>
            <a:ext cx="155448" cy="292608"/>
          </a:xfrm>
          <a:prstGeom prst="rightArrow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06055" y="1371600"/>
            <a:ext cx="2057400" cy="47548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79207" y="1435608"/>
            <a:ext cx="1911095" cy="32918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Paso 4 ▪ Tool Calling Seguro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06055" y="1847088"/>
            <a:ext cx="2057400" cy="2148840"/>
          </a:xfrm>
          <a:prstGeom prst="rect">
            <a:avLst/>
          </a:prstGeom>
          <a:solidFill>
            <a:srgbClr val="161616"/>
          </a:solidFill>
          <a:ln w="1524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15783" y="1975104"/>
            <a:ext cx="1837943" cy="310896"/>
          </a:xfrm>
          <a:prstGeom prst="rect">
            <a:avLst/>
          </a:prstGeom>
          <a:solidFill>
            <a:srgbClr val="000000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52359" y="2011680"/>
            <a:ext cx="176479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7900"/>
                </a:solidFill>
                <a:latin typeface="Arial"/>
              </a:rPr>
              <a:t>tools/*.py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15783" y="2395728"/>
            <a:ext cx="1837943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El sub-agente solicita datos obligatorios (DNI) y ejecuta la función Python determinista.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390887" y="2606040"/>
            <a:ext cx="155448" cy="292608"/>
          </a:xfrm>
          <a:prstGeom prst="rightArrow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73768" y="1371600"/>
            <a:ext cx="2057400" cy="47548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46920" y="1435608"/>
            <a:ext cx="1911095" cy="32918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Paso 5 ▪ Persistencia y Respuesta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73768" y="1847088"/>
            <a:ext cx="2057400" cy="2148840"/>
          </a:xfrm>
          <a:prstGeom prst="rect">
            <a:avLst/>
          </a:prstGeom>
          <a:solidFill>
            <a:srgbClr val="161616"/>
          </a:solidFill>
          <a:ln w="1524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83496" y="1975104"/>
            <a:ext cx="1837943" cy="310896"/>
          </a:xfrm>
          <a:prstGeom prst="rect">
            <a:avLst/>
          </a:prstGeom>
          <a:solidFill>
            <a:srgbClr val="000000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20072" y="2011680"/>
            <a:ext cx="176479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7900"/>
                </a:solidFill>
                <a:latin typeface="Arial"/>
              </a:rPr>
              <a:t>CSV / excalibur_calls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83496" y="2395728"/>
            <a:ext cx="1837943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Se actualiza el CSV o se crea el ticket .txt y se devuelve confirmación al cliente.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251960"/>
            <a:ext cx="11183112" cy="2057400"/>
          </a:xfrm>
          <a:prstGeom prst="rect">
            <a:avLst/>
          </a:prstGeom>
          <a:solidFill>
            <a:srgbClr val="161616"/>
          </a:solidFill>
          <a:ln w="1524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4251960"/>
            <a:ext cx="3291840" cy="20574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4526280"/>
            <a:ext cx="2926080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Arial"/>
              </a:rPr>
              <a:t>¿Por qué este pipeline destaca a nivel de ingeniería?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77639" y="4370832"/>
            <a:ext cx="754380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/>
          <a:p>
            <a:pPr algn="l">
              <a:spcBef>
                <a:spcPts val="200"/>
              </a:spcBef>
              <a:spcAft>
                <a:spcPts val="800"/>
              </a:spcAft>
            </a:pPr>
            <a:r>
              <a:rPr sz="1200" b="1">
                <a:solidFill>
                  <a:srgbClr val="FF7900"/>
                </a:solidFill>
                <a:latin typeface="Arial"/>
              </a:rPr>
              <a:t>▪ </a:t>
            </a:r>
            <a:r>
              <a:rPr sz="1200" b="0">
                <a:solidFill>
                  <a:srgbClr val="FFFFFF"/>
                </a:solidFill>
                <a:latin typeface="Arial"/>
              </a:rPr>
              <a:t>Prevención total de alucinaciones en datos críticos: el modelo de lenguaje nunca inventa contraseñas ni asume qué paquetes tiene un cliente; está obligado a consultar csv_tools.py.</a:t>
            </a:r>
          </a:p>
          <a:p>
            <a:pPr algn="l">
              <a:spcBef>
                <a:spcPts val="400"/>
              </a:spcBef>
              <a:spcAft>
                <a:spcPts val="800"/>
              </a:spcAft>
            </a:pPr>
            <a:r>
              <a:rPr sz="1200" b="1">
                <a:solidFill>
                  <a:srgbClr val="FF7900"/>
                </a:solidFill>
                <a:latin typeface="Arial"/>
              </a:rPr>
              <a:t>▪ </a:t>
            </a:r>
            <a:r>
              <a:rPr sz="1200" b="0">
                <a:solidFill>
                  <a:srgbClr val="FFFFFF"/>
                </a:solidFill>
                <a:latin typeface="Arial"/>
              </a:rPr>
              <a:t>Entropía criptográfica real: las contraseñas nuevas se generan con la librería secrets de Python (alfabeto alfanumérico de 10 caracteres), no mediante texto libre del LLM.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200" b="1">
                <a:solidFill>
                  <a:srgbClr val="FF7900"/>
                </a:solidFill>
                <a:latin typeface="Arial"/>
              </a:rPr>
              <a:t>▪ </a:t>
            </a:r>
            <a:r>
              <a:rPr sz="1200" b="0">
                <a:solidFill>
                  <a:srgbClr val="FFFFFF"/>
                </a:solidFill>
                <a:latin typeface="Arial"/>
              </a:rPr>
              <a:t>Portabilidad total (Cloud / Local): admite tanto el proxy corporativo de MasOrange como ejecución 100% gratuita en portátil personal mediante Google Gemini o Groq.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1323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14400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FF7900"/>
                </a:solidFill>
                <a:latin typeface="Arial"/>
              </a:rPr>
              <a:t>3. Arquitectura cognitiva (Google ADK)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566928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Diagrama de árbol: </a:t>
            </a:r>
            <a:r>
              <a:rPr sz="2500" b="1">
                <a:solidFill>
                  <a:srgbClr val="FF7900"/>
                </a:solidFill>
                <a:latin typeface="Arial"/>
              </a:rPr>
              <a:t>comportamiento del agente padre y sub-agentes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83112" cy="1828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548640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rial"/>
              </a:rPr>
              <a:t>TIBI ▪ Agente IA de soporte técnico MasOrange TV ▪ TFG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11712" y="6547104"/>
            <a:ext cx="274320" cy="20116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44200" y="6537960"/>
            <a:ext cx="621792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1">
                <a:solidFill>
                  <a:srgbClr val="FF7900"/>
                </a:solidFill>
                <a:latin typeface="Arial"/>
              </a:rPr>
              <a:t>4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261872"/>
            <a:ext cx="5166360" cy="877824"/>
          </a:xfrm>
          <a:prstGeom prst="roundRect">
            <a:avLst>
              <a:gd name="adj" fmla="val 4000"/>
            </a:avLst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307592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Agente Padre Orquestador: agente_principal (TIBI)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618488"/>
            <a:ext cx="4983480" cy="43891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Arial"/>
              </a:rPr>
              <a:t>Analiza la intención del usuario, mantiene el contexto de sesión y aplica el cortafuegos semántico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2139696"/>
            <a:ext cx="45720" cy="25603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65960" y="2377440"/>
            <a:ext cx="8275320" cy="457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65960" y="2377440"/>
            <a:ext cx="45720" cy="25603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2377440"/>
            <a:ext cx="45720" cy="25603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195560" y="2377440"/>
            <a:ext cx="45720" cy="25603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2633472"/>
            <a:ext cx="3108960" cy="749808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905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88336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50" b="1">
                <a:solidFill>
                  <a:srgbClr val="FF7900"/>
                </a:solidFill>
                <a:latin typeface="Arial"/>
              </a:rPr>
              <a:t>Rama 1 ▪ Cortafuegos (Guardrail)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962656"/>
            <a:ext cx="29260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Peticiones fuera de dominio (ej. comprar lavadora) o intentos de Jailbreak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65960" y="3383280"/>
            <a:ext cx="45720" cy="2743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657600"/>
            <a:ext cx="3108960" cy="2606040"/>
          </a:xfrm>
          <a:prstGeom prst="rect">
            <a:avLst/>
          </a:prstGeom>
          <a:solidFill>
            <a:srgbClr val="161616"/>
          </a:solidFill>
          <a:ln w="1524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657600"/>
            <a:ext cx="3108960" cy="3657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712463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Acción directa (Sin sub-agentes)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4096512"/>
            <a:ext cx="2880360" cy="2057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/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050" b="1">
                <a:solidFill>
                  <a:srgbClr val="FF7900"/>
                </a:solidFill>
                <a:latin typeface="Arial"/>
              </a:rPr>
              <a:t>▪ </a:t>
            </a:r>
            <a:r>
              <a:rPr sz="1050" b="0">
                <a:solidFill>
                  <a:srgbClr val="FFFFFF"/>
                </a:solidFill>
                <a:latin typeface="Arial"/>
              </a:rPr>
              <a:t>No invoca ninguna herramienta ni accede a los CSV.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FF7900"/>
                </a:solidFill>
                <a:latin typeface="Arial"/>
              </a:rPr>
              <a:t>▪ </a:t>
            </a:r>
            <a:r>
              <a:rPr sz="1050" b="0">
                <a:solidFill>
                  <a:srgbClr val="FFFFFF"/>
                </a:solidFill>
                <a:latin typeface="Arial"/>
              </a:rPr>
              <a:t>Bloquea fugas de información ante ataques de Prompt Injection.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050" b="1">
                <a:solidFill>
                  <a:srgbClr val="FF7900"/>
                </a:solidFill>
                <a:latin typeface="Arial"/>
              </a:rPr>
              <a:t>▪ </a:t>
            </a:r>
            <a:r>
              <a:rPr sz="1050" b="0">
                <a:solidFill>
                  <a:srgbClr val="FFFFFF"/>
                </a:solidFill>
                <a:latin typeface="Arial"/>
              </a:rPr>
              <a:t>Reconduce educadamente al usuario hacia las 2 únicas ramas válidas: contraseñas o plataformas SVA.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86200" y="2633472"/>
            <a:ext cx="3840480" cy="749808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254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39" y="2688336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50" b="1">
                <a:solidFill>
                  <a:srgbClr val="FF7900"/>
                </a:solidFill>
                <a:latin typeface="Arial"/>
              </a:rPr>
              <a:t>Rama 2 ▪ Sub-Agente: agente_contrasena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2962656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Especialista en acceso y restablecimiento de credenciales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3383280"/>
            <a:ext cx="45720" cy="2286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69080" y="3611880"/>
            <a:ext cx="3474720" cy="621792"/>
          </a:xfrm>
          <a:prstGeom prst="rect">
            <a:avLst/>
          </a:prstGeom>
          <a:solidFill>
            <a:srgbClr val="000000"/>
          </a:solidFill>
          <a:ln w="1524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60520" y="3657600"/>
            <a:ext cx="3291840" cy="2377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1">
                <a:solidFill>
                  <a:srgbClr val="FF7900"/>
                </a:solidFill>
                <a:latin typeface="Arial"/>
              </a:rPr>
              <a:t>Tool: restablecer_contrasena(dni, login)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3895344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rial"/>
              </a:rPr>
              <a:t>Cruza DNI + Teléfono en cliente_credencial 1.csv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233672"/>
            <a:ext cx="45720" cy="18288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00600" y="4416552"/>
            <a:ext cx="2011680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00600" y="4416552"/>
            <a:ext cx="36576" cy="20116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775704" y="4416552"/>
            <a:ext cx="36576" cy="20116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86200" y="4617720"/>
            <a:ext cx="1847088" cy="1645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50208" y="4681728"/>
            <a:ext cx="1719072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Datos correctos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50208" y="4956048"/>
            <a:ext cx="1719072" cy="12344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80" b="0">
                <a:solidFill>
                  <a:srgbClr val="000000"/>
                </a:solidFill>
                <a:latin typeface="Arial"/>
              </a:rPr>
              <a:t>Genera clave segura (10 caract.), sobrescribe el CSV en vivo y la muestra al cliente.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79592" y="4617720"/>
            <a:ext cx="1847088" cy="1645920"/>
          </a:xfrm>
          <a:prstGeom prst="rect">
            <a:avLst/>
          </a:prstGeom>
          <a:solidFill>
            <a:srgbClr val="161616"/>
          </a:solidFill>
          <a:ln w="1524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0" y="4681728"/>
            <a:ext cx="1719072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7900"/>
                </a:solidFill>
                <a:latin typeface="Arial"/>
              </a:rPr>
              <a:t>Datos no válidos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4956048"/>
            <a:ext cx="1719072" cy="12344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80" b="0">
                <a:solidFill>
                  <a:srgbClr val="FFFFFF"/>
                </a:solidFill>
                <a:latin typeface="Arial"/>
              </a:rPr>
              <a:t>Deniega el cambio sin revelar qué dato falló y permite volver a intentarlo.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79" y="2633472"/>
            <a:ext cx="3730752" cy="749808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254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2688336"/>
            <a:ext cx="3547872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50" b="1">
                <a:solidFill>
                  <a:srgbClr val="FF7900"/>
                </a:solidFill>
                <a:latin typeface="Arial"/>
              </a:rPr>
              <a:t>Rama 3 ▪ Sub-Agente: agente_servicios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2962656"/>
            <a:ext cx="3547872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Especialista en SVA (Netflix, HBO y Prime Video)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0656" y="3383280"/>
            <a:ext cx="45720" cy="2286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92440" y="3611880"/>
            <a:ext cx="3456432" cy="621792"/>
          </a:xfrm>
          <a:prstGeom prst="rect">
            <a:avLst/>
          </a:prstGeom>
          <a:solidFill>
            <a:srgbClr val="000000"/>
          </a:solidFill>
          <a:ln w="1524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83879" y="3657600"/>
            <a:ext cx="3273552" cy="2377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1">
                <a:solidFill>
                  <a:srgbClr val="FF7900"/>
                </a:solidFill>
                <a:latin typeface="Arial"/>
              </a:rPr>
              <a:t>Tool 1: verificar_servicio_cliente(dni, sva)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83879" y="3895344"/>
            <a:ext cx="3273552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rial"/>
              </a:rPr>
              <a:t>Comprueba contrato activo en usuarios_servicios.csv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20656" y="4233672"/>
            <a:ext cx="45720" cy="18288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23960" y="4416552"/>
            <a:ext cx="2011680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823960" y="4416552"/>
            <a:ext cx="36576" cy="20116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799064" y="4416552"/>
            <a:ext cx="36576" cy="20116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5279" y="4617720"/>
            <a:ext cx="1810512" cy="1645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10144" y="4681728"/>
            <a:ext cx="1700784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SVA contratado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10144" y="4956048"/>
            <a:ext cx="1700784" cy="12344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80" b="0">
                <a:solidFill>
                  <a:srgbClr val="000000"/>
                </a:solidFill>
                <a:latin typeface="Arial"/>
              </a:rPr>
              <a:t>Ejecuta llamar_excalibur(): crea ticket .txt en excalibur_calls/ y confirma escalado.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75520" y="4617720"/>
            <a:ext cx="1810512" cy="1645920"/>
          </a:xfrm>
          <a:prstGeom prst="rect">
            <a:avLst/>
          </a:prstGeom>
          <a:solidFill>
            <a:srgbClr val="161616"/>
          </a:solidFill>
          <a:ln w="1524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30384" y="4681728"/>
            <a:ext cx="1700784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7900"/>
                </a:solidFill>
                <a:latin typeface="Arial"/>
              </a:rPr>
              <a:t>No contratado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30384" y="4956048"/>
            <a:ext cx="1700784" cy="12344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80" b="0">
                <a:solidFill>
                  <a:srgbClr val="FFFFFF"/>
                </a:solidFill>
                <a:latin typeface="Arial"/>
              </a:rPr>
              <a:t>No abre ticket falso en Excalibur e informa al cliente que no figura activo.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1323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14400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FF7900"/>
                </a:solidFill>
                <a:latin typeface="Arial"/>
              </a:rPr>
              <a:t>4. Persistencia de datos y trazabilidad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566928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Bases de datos simuladas </a:t>
            </a:r>
            <a:r>
              <a:rPr sz="2500" b="1">
                <a:solidFill>
                  <a:srgbClr val="FF7900"/>
                </a:solidFill>
                <a:latin typeface="Arial"/>
              </a:rPr>
              <a:t>y almacén de tickets Excalibur (.txt)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83112" cy="1828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548640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rial"/>
              </a:rPr>
              <a:t>TIBI ▪ Agente IA de soporte técnico MasOrange TV ▪ TFG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11712" y="6547104"/>
            <a:ext cx="274320" cy="20116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44200" y="6537960"/>
            <a:ext cx="621792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1">
                <a:solidFill>
                  <a:srgbClr val="FF7900"/>
                </a:solidFill>
                <a:latin typeface="Arial"/>
              </a:rPr>
              <a:t>5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5440680" cy="4937760"/>
          </a:xfrm>
          <a:prstGeom prst="rect">
            <a:avLst/>
          </a:prstGeom>
          <a:solidFill>
            <a:srgbClr val="161616"/>
          </a:solidFill>
          <a:ln w="1905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5440680" cy="47548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399032"/>
            <a:ext cx="512064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1. Bases de datos locales (Carpeta ficheros/)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920240"/>
            <a:ext cx="5074920" cy="20116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/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1150" b="1">
                <a:solidFill>
                  <a:srgbClr val="FF7900"/>
                </a:solidFill>
                <a:latin typeface="Arial"/>
              </a:rPr>
              <a:t>▪ </a:t>
            </a:r>
            <a:r>
              <a:rPr sz="1150" b="0">
                <a:solidFill>
                  <a:srgbClr val="FFFFFF"/>
                </a:solidFill>
                <a:latin typeface="Arial"/>
              </a:rPr>
              <a:t>cliente_credencial 1.csv (10.000 registros): almacena DNI, teléfono (login) y contraseña actual. Se actualiza en vivo cuando restablecer_contrasena() valida al cliente.</a:t>
            </a:r>
          </a:p>
          <a:p>
            <a:pPr algn="l">
              <a:spcBef>
                <a:spcPts val="400"/>
              </a:spcBef>
              <a:spcAft>
                <a:spcPts val="1000"/>
              </a:spcAft>
            </a:pPr>
            <a:r>
              <a:rPr sz="1150" b="1">
                <a:solidFill>
                  <a:srgbClr val="FF7900"/>
                </a:solidFill>
                <a:latin typeface="Arial"/>
              </a:rPr>
              <a:t>▪ </a:t>
            </a:r>
            <a:r>
              <a:rPr sz="1150" b="0">
                <a:solidFill>
                  <a:srgbClr val="FFFFFF"/>
                </a:solidFill>
                <a:latin typeface="Arial"/>
              </a:rPr>
              <a:t>usuarios_servicios.csv (10.000 registros): relaciona cada DNI con sus paquetes SVA contratados (NETFLIX, HBO, PRIME). Permite validar antes de escalar.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94760"/>
            <a:ext cx="5074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FF7900"/>
                </a:solidFill>
                <a:latin typeface="Arial"/>
              </a:rPr>
              <a:t>Ejemplos reales de clientes para pruebas en la Demo: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114800"/>
            <a:ext cx="5074920" cy="347472"/>
          </a:xfrm>
          <a:prstGeom prst="rect">
            <a:avLst/>
          </a:prstGeom>
          <a:solidFill>
            <a:srgbClr val="FF7900"/>
          </a:solidFill>
          <a:ln w="1016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160520"/>
            <a:ext cx="1234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DNI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160520"/>
            <a:ext cx="1234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Login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160520"/>
            <a:ext cx="242316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Servicios Activos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98848"/>
            <a:ext cx="5074920" cy="347472"/>
          </a:xfrm>
          <a:prstGeom prst="rect">
            <a:avLst/>
          </a:prstGeom>
          <a:solidFill>
            <a:srgbClr val="000000"/>
          </a:solidFill>
          <a:ln w="1016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44568"/>
            <a:ext cx="1234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24942603T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544568"/>
            <a:ext cx="1234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914942603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4544568"/>
            <a:ext cx="242316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FF7900"/>
                </a:solidFill>
                <a:latin typeface="Arial"/>
              </a:rPr>
              <a:t>NETFLIX, HBO, PRIME (Todos)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882896"/>
            <a:ext cx="5074920" cy="347472"/>
          </a:xfrm>
          <a:prstGeom prst="rect">
            <a:avLst/>
          </a:prstGeom>
          <a:solidFill>
            <a:srgbClr val="000000"/>
          </a:solidFill>
          <a:ln w="1016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928616"/>
            <a:ext cx="1234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95822412L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928616"/>
            <a:ext cx="1234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985822412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928616"/>
            <a:ext cx="242316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FF7900"/>
                </a:solidFill>
                <a:latin typeface="Arial"/>
              </a:rPr>
              <a:t>Solo NETFLIX (Sin HBO/Prime)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5266944"/>
            <a:ext cx="5074920" cy="347472"/>
          </a:xfrm>
          <a:prstGeom prst="rect">
            <a:avLst/>
          </a:prstGeom>
          <a:solidFill>
            <a:srgbClr val="000000"/>
          </a:solidFill>
          <a:ln w="1016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12664"/>
            <a:ext cx="1234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83197857A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5312664"/>
            <a:ext cx="1234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998847493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5312664"/>
            <a:ext cx="242316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FF7900"/>
                </a:solidFill>
                <a:latin typeface="Arial"/>
              </a:rPr>
              <a:t>Solo PRIME (Sin Netflix/HBO)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5650992"/>
            <a:ext cx="5074920" cy="347472"/>
          </a:xfrm>
          <a:prstGeom prst="rect">
            <a:avLst/>
          </a:prstGeom>
          <a:solidFill>
            <a:srgbClr val="000000"/>
          </a:solidFill>
          <a:ln w="1016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696712"/>
            <a:ext cx="1234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13356886G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5696712"/>
            <a:ext cx="1234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903356886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5696712"/>
            <a:ext cx="242316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FF7900"/>
                </a:solidFill>
                <a:latin typeface="Arial"/>
              </a:rPr>
              <a:t>NETFLIX y HBO (Sin Prime)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1325880"/>
            <a:ext cx="5468112" cy="4937760"/>
          </a:xfrm>
          <a:prstGeom prst="rect">
            <a:avLst/>
          </a:prstGeom>
          <a:solidFill>
            <a:srgbClr val="161616"/>
          </a:solidFill>
          <a:ln w="1905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1325880"/>
            <a:ext cx="5468112" cy="47548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82512" y="1399032"/>
            <a:ext cx="512064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2. Almacén de peticiones escaladas (excalibur_calls/)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1920240"/>
            <a:ext cx="5102352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/>
          <a:p>
            <a:pPr algn="l">
              <a:spcBef>
                <a:spcPts val="200"/>
              </a:spcBef>
              <a:spcAft>
                <a:spcPts val="800"/>
              </a:spcAft>
            </a:pPr>
            <a:r>
              <a:rPr sz="1150" b="1">
                <a:solidFill>
                  <a:srgbClr val="FF7900"/>
                </a:solidFill>
                <a:latin typeface="Arial"/>
              </a:rPr>
              <a:t>▪ </a:t>
            </a:r>
            <a:r>
              <a:rPr sz="1150" b="0">
                <a:solidFill>
                  <a:srgbClr val="FFFFFF"/>
                </a:solidFill>
                <a:latin typeface="Arial"/>
              </a:rPr>
              <a:t>Cada vez que un cliente con servicio activo reporta una caída técnica, llamar_excalibur() genera un fichero .txt único con sello temporal y DNI.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150" b="1">
                <a:solidFill>
                  <a:srgbClr val="FF7900"/>
                </a:solidFill>
                <a:latin typeface="Arial"/>
              </a:rPr>
              <a:t>▪ </a:t>
            </a:r>
            <a:r>
              <a:rPr sz="1150" b="0">
                <a:solidFill>
                  <a:srgbClr val="FFFFFF"/>
                </a:solidFill>
                <a:latin typeface="Arial"/>
              </a:rPr>
              <a:t>Garantiza auditoría completa: qué cliente abrió la petición, a qué hora exacta, sobre qué plataforma y con qué síntoma.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520440"/>
            <a:ext cx="5102352" cy="2514600"/>
          </a:xfrm>
          <a:prstGeom prst="rect">
            <a:avLst/>
          </a:prstGeom>
          <a:solidFill>
            <a:srgbClr val="000000"/>
          </a:solidFill>
          <a:ln w="1524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3593592"/>
            <a:ext cx="48463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FF7900"/>
                </a:solidFill>
                <a:latin typeface="Arial"/>
              </a:rPr>
              <a:t>Fichero: excalibur_calls/excalibur_20261021_130659_24942603T.txt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3931920"/>
            <a:ext cx="4846320" cy="20116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============================================================
LLAMADA A EXCALIBUR — INCIDENCIA DE SERVICIO
============================================================
Fecha y hora : 2026-10-21 13:06:59
DNI cliente  : 24942603T
Servicio     : HBO
Descripción  : No funciona la aplicación de HBO
Estado       : PENDIENTE DE RESOLUCIÓN
============================================================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1323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14400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FF7900"/>
                </a:solidFill>
                <a:latin typeface="Arial"/>
              </a:rPr>
              <a:t>5. Experiencia de usuario e integración visual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566928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Dónde se encuentra el agente: </a:t>
            </a:r>
            <a:r>
              <a:rPr sz="2500" b="1">
                <a:solidFill>
                  <a:srgbClr val="FF7900"/>
                </a:solidFill>
                <a:latin typeface="Arial"/>
              </a:rPr>
              <a:t>interfaz MasOrange TV con TIBI desplegado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83112" cy="1828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548640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rial"/>
              </a:rPr>
              <a:t>TIBI ▪ Agente IA de soporte técnico MasOrange TV ▪ TFG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11712" y="6547104"/>
            <a:ext cx="274320" cy="20116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44200" y="6537960"/>
            <a:ext cx="621792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1">
                <a:solidFill>
                  <a:srgbClr val="FF7900"/>
                </a:solidFill>
                <a:latin typeface="Arial"/>
              </a:rPr>
              <a:t>6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3794760" cy="4937760"/>
          </a:xfrm>
          <a:prstGeom prst="rect">
            <a:avLst/>
          </a:prstGeom>
          <a:solidFill>
            <a:srgbClr val="161616"/>
          </a:solidFill>
          <a:ln w="1905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3794760" cy="4572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399032"/>
            <a:ext cx="35204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Integración nativa en MasOrange TV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901952"/>
            <a:ext cx="3493008" cy="4206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/>
          <a:p>
            <a:pPr algn="l">
              <a:spcBef>
                <a:spcPts val="400"/>
              </a:spcBef>
              <a:spcAft>
                <a:spcPts val="1000"/>
              </a:spcAft>
            </a:pPr>
            <a:r>
              <a:rPr sz="1150" b="1">
                <a:solidFill>
                  <a:srgbClr val="FF7900"/>
                </a:solidFill>
                <a:latin typeface="Arial"/>
              </a:rPr>
              <a:t>▪ </a:t>
            </a:r>
            <a:r>
              <a:rPr sz="1150" b="0">
                <a:solidFill>
                  <a:srgbClr val="FFFFFF"/>
                </a:solidFill>
                <a:latin typeface="Arial"/>
              </a:rPr>
              <a:t>Ubicación accesible: botón flotante naranja en la esquina inferior derecha del portal web de televisión (static/tv.html).</a:t>
            </a:r>
          </a:p>
          <a:p>
            <a:pPr algn="l">
              <a:spcBef>
                <a:spcPts val="400"/>
              </a:spcBef>
              <a:spcAft>
                <a:spcPts val="1000"/>
              </a:spcAft>
            </a:pPr>
            <a:r>
              <a:rPr sz="1150" b="1">
                <a:solidFill>
                  <a:srgbClr val="FF7900"/>
                </a:solidFill>
                <a:latin typeface="Arial"/>
              </a:rPr>
              <a:t>▪ </a:t>
            </a:r>
            <a:r>
              <a:rPr sz="1150" b="0">
                <a:solidFill>
                  <a:srgbClr val="FFFFFF"/>
                </a:solidFill>
                <a:latin typeface="Arial"/>
              </a:rPr>
              <a:t>Asistente contextual sin salir del contenido: el usuario puede resolver un fallo de acceso o reportar una caída de Netflix/HBO/Prime sin abandonar la pantalla principal.</a:t>
            </a:r>
          </a:p>
          <a:p>
            <a:pPr algn="l">
              <a:spcBef>
                <a:spcPts val="400"/>
              </a:spcBef>
              <a:spcAft>
                <a:spcPts val="1000"/>
              </a:spcAft>
            </a:pPr>
            <a:r>
              <a:rPr sz="1150" b="1">
                <a:solidFill>
                  <a:srgbClr val="FF7900"/>
                </a:solidFill>
                <a:latin typeface="Arial"/>
              </a:rPr>
              <a:t>▪ </a:t>
            </a:r>
            <a:r>
              <a:rPr sz="1150" b="0">
                <a:solidFill>
                  <a:srgbClr val="FFFFFF"/>
                </a:solidFill>
                <a:latin typeface="Arial"/>
              </a:rPr>
              <a:t>Soporte multimodal (Texto y Voz): incorpora reconocimiento de voz en navegador (Web Speech API) además de entrada por teclado.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150" b="1">
                <a:solidFill>
                  <a:srgbClr val="FF7900"/>
                </a:solidFill>
                <a:latin typeface="Arial"/>
              </a:rPr>
              <a:t>▪ </a:t>
            </a:r>
            <a:r>
              <a:rPr sz="1150" b="0">
                <a:solidFill>
                  <a:srgbClr val="FFFFFF"/>
                </a:solidFill>
                <a:latin typeface="Arial"/>
              </a:rPr>
              <a:t>Gestión inteligente de ciclo de vida: conexión WebSocket (/ws/heartbeat) que mantiene vivo el servidor y lo cierra limpiamente al cerrar la pestaña.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325880"/>
            <a:ext cx="7205472" cy="4937760"/>
          </a:xfrm>
          <a:prstGeom prst="rect">
            <a:avLst/>
          </a:prstGeom>
          <a:solidFill>
            <a:srgbClr val="161616"/>
          </a:solidFill>
          <a:ln w="254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aptura_interfaz_tib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508760"/>
            <a:ext cx="6931152" cy="318805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617720" y="4892040"/>
            <a:ext cx="6931152" cy="1207008"/>
          </a:xfrm>
          <a:prstGeom prst="rect">
            <a:avLst/>
          </a:prstGeom>
          <a:solidFill>
            <a:srgbClr val="000000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4956048"/>
            <a:ext cx="6675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F7900"/>
                </a:solidFill>
                <a:latin typeface="Arial"/>
              </a:rPr>
              <a:t>Vista real del entorno local (http://localhost:8000)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5248656"/>
            <a:ext cx="667512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A la izquierda, el catálogo de contenidos de MasOrange TV; a la derecha, el panel desplegado de TIBI saludando al cliente y mostrando sus dos áreas de actuación: problemas de contraseña e incidencias en Netflix, HBO o Prime.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725912" cy="214884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261872"/>
            <a:ext cx="100584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Demostración práctica en tiempo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91640"/>
            <a:ext cx="100584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Arial"/>
              </a:rPr>
              <a:t>Ahora vamos con la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56432"/>
            <a:ext cx="10725912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7900"/>
                </a:solidFill>
                <a:latin typeface="Arial"/>
              </a:rPr>
              <a:t>Hoja de ruta de los escenarios a validar en vivo: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913632"/>
            <a:ext cx="2029968" cy="2148840"/>
          </a:xfrm>
          <a:prstGeom prst="rect">
            <a:avLst/>
          </a:prstGeom>
          <a:solidFill>
            <a:srgbClr val="161616"/>
          </a:solidFill>
          <a:ln w="1778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913632"/>
            <a:ext cx="2029968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977639"/>
            <a:ext cx="1883664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FF7900"/>
                </a:solidFill>
                <a:latin typeface="Arial"/>
              </a:rPr>
              <a:t>Caso 1 ▪ Contraseña 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34840"/>
            <a:ext cx="1847088" cy="1508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DNI + Teléfono válidos -&gt; Genera nueva clave y muta el CSV en vivo.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7791" y="3913632"/>
            <a:ext cx="2029968" cy="2148840"/>
          </a:xfrm>
          <a:prstGeom prst="rect">
            <a:avLst/>
          </a:prstGeom>
          <a:solidFill>
            <a:srgbClr val="161616"/>
          </a:solidFill>
          <a:ln w="1778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07791" y="3913632"/>
            <a:ext cx="2029968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0944" y="3977639"/>
            <a:ext cx="1883664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FF7900"/>
                </a:solidFill>
                <a:latin typeface="Arial"/>
              </a:rPr>
              <a:t>Caso 2 ▪ Login erróneo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2" y="4434840"/>
            <a:ext cx="1847088" cy="1508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Credenciales que no coinciden -&gt; Deniega sin filtrar qué dato falló.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4064" y="3913632"/>
            <a:ext cx="2029968" cy="2148840"/>
          </a:xfrm>
          <a:prstGeom prst="rect">
            <a:avLst/>
          </a:prstGeom>
          <a:solidFill>
            <a:srgbClr val="161616"/>
          </a:solidFill>
          <a:ln w="1778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84064" y="3913632"/>
            <a:ext cx="2029968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3977639"/>
            <a:ext cx="1883664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FF7900"/>
                </a:solidFill>
                <a:latin typeface="Arial"/>
              </a:rPr>
              <a:t>Caso 3 ▪ SVA contratado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3" y="4434840"/>
            <a:ext cx="1847088" cy="1508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Fallo en HBO / Netflix activo -&gt; Crea ticket .txt en excalibur_calls/.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0336" y="3913632"/>
            <a:ext cx="2029968" cy="2148840"/>
          </a:xfrm>
          <a:prstGeom prst="rect">
            <a:avLst/>
          </a:prstGeom>
          <a:solidFill>
            <a:srgbClr val="161616"/>
          </a:solidFill>
          <a:ln w="1778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60336" y="3913632"/>
            <a:ext cx="2029968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3488" y="3977639"/>
            <a:ext cx="1883664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FF7900"/>
                </a:solidFill>
                <a:latin typeface="Arial"/>
              </a:rPr>
              <a:t>Caso 4 ▪ SVA no activo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775" y="4434840"/>
            <a:ext cx="1847088" cy="1508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Reclama un SVA que no tiene contratado -&gt; Bloquea apertura de ticket.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36608" y="3913632"/>
            <a:ext cx="2029968" cy="2148840"/>
          </a:xfrm>
          <a:prstGeom prst="rect">
            <a:avLst/>
          </a:prstGeom>
          <a:solidFill>
            <a:srgbClr val="161616"/>
          </a:solidFill>
          <a:ln w="1778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36608" y="3913632"/>
            <a:ext cx="2029968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FF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0" y="3977639"/>
            <a:ext cx="1883664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FF7900"/>
                </a:solidFill>
                <a:latin typeface="Arial"/>
              </a:rPr>
              <a:t>Caso 5 ▪ Cortafuegos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8048" y="4434840"/>
            <a:ext cx="1847088" cy="1508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Petición fuera de lugar (comprar una lavadora) -&gt; Rechazo elegante.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0528"/>
            <a:ext cx="11183112" cy="1828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47104"/>
            <a:ext cx="548640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rial"/>
              </a:rPr>
              <a:t>TIBI ▪ Agente IA de soporte técnico MasOrange TV ▪ TFG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11712" y="6547104"/>
            <a:ext cx="274320" cy="20116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44200" y="6537960"/>
            <a:ext cx="621792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1">
                <a:solidFill>
                  <a:srgbClr val="FF7900"/>
                </a:solidFill>
                <a:latin typeface="Arial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55279" y="0"/>
            <a:ext cx="4236415" cy="6858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03920" y="731520"/>
            <a:ext cx="1051560" cy="10515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7072" y="1051560"/>
            <a:ext cx="9144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2377440"/>
            <a:ext cx="329184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Repositorio del proyecto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2816352"/>
            <a:ext cx="2194560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2971800"/>
            <a:ext cx="3291840" cy="2926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github.com/DanielBraun11/TIBI_AgenteIA</a:t>
            </a:r>
          </a:p>
          <a:p>
            <a:pPr algn="l">
              <a:spcBef>
                <a:spcPts val="1400"/>
              </a:spcBef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Incluye código fuente completo, arquitectura detallada (README.md) y batería de pruebas (CASOS_DE_PRUEBA_DEMO.md).</a:t>
            </a:r>
          </a:p>
          <a:p>
            <a:pPr algn="l">
              <a:spcBef>
                <a:spcPts val="2400"/>
              </a:spcBef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Arial"/>
              </a:rPr>
              <a:t>Daniel Braun ▪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08760"/>
            <a:ext cx="146304" cy="329184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54480"/>
            <a:ext cx="649224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FF7900"/>
                </a:solidFill>
                <a:latin typeface="Arial"/>
              </a:rPr>
              <a:t>Defensa de Trabajo de Fin de Grado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57400"/>
            <a:ext cx="6492240" cy="1691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Muchas gracias por su atención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886200"/>
            <a:ext cx="64922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Quedo a disposición del tribunal para responder a cualquier pregunta sobre la arquitectura, el sistema multi-agente o la demostración.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
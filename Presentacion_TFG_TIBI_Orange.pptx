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0584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686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Trabajo de Fin de Grado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201168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20040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Arquitectura multi-agente con Google ADK, FastAPI y ejecución determinista de herramientas.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Autor: Daniel Braun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Proyecto: TIBI_AgenteIA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69494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Arial"/>
              </a:rPr>
              <a:t>Inteligencia Artificial aplicada a operaciones de televisión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7040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7900"/>
                </a:solidFill>
                <a:latin typeface="Arial"/>
              </a:rPr>
              <a:t>TIBI: </a:t>
            </a:r>
            <a:r>
              <a:rPr sz="3600" b="1">
                <a:solidFill>
                  <a:srgbClr val="FFFFFF"/>
                </a:solidFill>
                <a:latin typeface="Arial"/>
              </a:rPr>
              <a:t>Agente inteligente de resolución de incidencias en MasOrange TV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977639"/>
            <a:ext cx="694944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977639"/>
            <a:ext cx="109728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4032503"/>
            <a:ext cx="65836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Arial"/>
              </a:rPr>
              <a:t>1. Arquitectura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288536"/>
            <a:ext cx="65836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Separación estricta en 4 capas: interfaz web, API REST/WebSocket, orquestación ADK y persistencia.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818888"/>
            <a:ext cx="694944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4818888"/>
            <a:ext cx="109728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873751"/>
            <a:ext cx="65836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Arial"/>
              </a:rPr>
              <a:t>2. Patrón multi-agente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129783"/>
            <a:ext cx="65836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Agente padre orquestador que enruta hacia 2 sub-agentes especialistas (Cuentas y Servicios SVA).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5660136"/>
            <a:ext cx="694944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5660136"/>
            <a:ext cx="109728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5714999"/>
            <a:ext cx="65836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Arial"/>
              </a:rPr>
              <a:t>3. Trazabilidad y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971031"/>
            <a:ext cx="65836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Validación determinista sobre bases de datos CSV y generación automática de tickets en Excalibur.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1. Ingeniería del software y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Esqueleto del proyecto: </a:t>
            </a:r>
            <a:r>
              <a:rPr sz="2500" b="1">
                <a:solidFill>
                  <a:srgbClr val="FF7900"/>
                </a:solidFill>
                <a:latin typeface="Arial"/>
              </a:rPr>
              <a:t>dónde está cada componente y por qué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4160520" cy="5029200"/>
          </a:xfrm>
          <a:prstGeom prst="rect">
            <a:avLst/>
          </a:prstGeom>
          <a:solidFill>
            <a:srgbClr val="161616"/>
          </a:solidFill>
          <a:ln w="2286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4160520" cy="43891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53312"/>
            <a:ext cx="39319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Estructura del repositorio (TIBI_AgenteIA/)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84708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2024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app/agent.py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9280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Cerebro multi-agente (3 agentes ADK y prompts)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39572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46888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tools/tools.py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44144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Funciones Python deterministas (acceso a datos)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4436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01752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ficheros/*.csv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9008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BBDD local simulada (10.000 clientes y SVA)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9300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56616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excalibur_calls/*.txt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3872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Almacén auditable de tickets escalados a Nivel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4164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1480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logs/*.log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08736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Registro técnico de servidor y herramientas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9028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66344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static/tv.html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63600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Interfaz web MasOrange TV + chat embebido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138927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212079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server.py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184647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Backend FastAPI (/api/chat + /ws/heartbeat)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687568"/>
            <a:ext cx="160020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7900"/>
                </a:solidFill>
                <a:latin typeface="Arial"/>
              </a:rPr>
              <a:t>instalador.py / *.bat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733288"/>
            <a:ext cx="224028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Despliegue automatizado y multi-proveedor 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1280160"/>
            <a:ext cx="6793992" cy="1143000"/>
          </a:xfrm>
          <a:prstGeom prst="rect">
            <a:avLst/>
          </a:prstGeom>
          <a:solidFill>
            <a:srgbClr val="FF7900"/>
          </a:solidFill>
          <a:ln w="1905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1371600"/>
            <a:ext cx="6400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Capa 1 ▪ Presentación (static/tv.html)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1682495"/>
            <a:ext cx="640080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Desacopla la vista del modelo. Simula el portal real de Smart TV e inyecta el widget de chat sin lógica de negocio en el navegador.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2560320"/>
            <a:ext cx="6793992" cy="1143000"/>
          </a:xfrm>
          <a:prstGeom prst="rect">
            <a:avLst/>
          </a:prstGeom>
          <a:solidFill>
            <a:srgbClr val="161616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92040" y="2560320"/>
            <a:ext cx="128016" cy="1143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2651760"/>
            <a:ext cx="6400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FF7900"/>
                </a:solidFill>
                <a:latin typeface="Arial"/>
              </a:rPr>
              <a:t>Capa 2 ▪ Transporte y sesión (server.py)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962656"/>
            <a:ext cx="640080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FastAPI gestiona peticiones asíncronas, conserva la memoria de cada conversación en RAM (InMemorySessionService) y apaga el servidor por WebSocket al cerrar la pestaña.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3840479"/>
            <a:ext cx="6793992" cy="1143000"/>
          </a:xfrm>
          <a:prstGeom prst="rect">
            <a:avLst/>
          </a:prstGeom>
          <a:solidFill>
            <a:srgbClr val="161616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92040" y="3840479"/>
            <a:ext cx="128016" cy="1143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931919"/>
            <a:ext cx="6400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FF7900"/>
                </a:solidFill>
                <a:latin typeface="Arial"/>
              </a:rPr>
              <a:t>Capa 3 ▪ Cognitiva multi-agente (app/agent.py)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242816"/>
            <a:ext cx="640080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Aísla los prompts e instrucciones en agentes especializados. Cambiar de modelo (Claude, Gemini o Groq) requiere tocar un único fichero.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5120640"/>
            <a:ext cx="6793992" cy="1143000"/>
          </a:xfrm>
          <a:prstGeom prst="rect">
            <a:avLst/>
          </a:prstGeom>
          <a:solidFill>
            <a:srgbClr val="161616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92040" y="5120640"/>
            <a:ext cx="128016" cy="1143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5212079"/>
            <a:ext cx="6400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FF7900"/>
                </a:solidFill>
                <a:latin typeface="Arial"/>
              </a:rPr>
              <a:t>Capa 4 ▪ Datos, herramientas y auditoría (tools/ + ficheros/ + excalibur_calls/)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522976"/>
            <a:ext cx="640080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El LLM nunca toca los CSV directamente: invoca herramientas Python tipadas que validan datos, mutan contraseñas y escriben tickets .txt auditables.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2. Pipeline de ejecución extremo a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Flujo de trabajo: </a:t>
            </a:r>
            <a:r>
              <a:rPr sz="2500" b="1">
                <a:solidFill>
                  <a:srgbClr val="FF7900"/>
                </a:solidFill>
                <a:latin typeface="Arial"/>
              </a:rPr>
              <a:t>del mensaje del cliente a la acción en 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05740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35608"/>
            <a:ext cx="1911095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Paso 1 ▪ Cliente en Web TV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2057400" cy="2148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1975104"/>
            <a:ext cx="1837943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011680"/>
            <a:ext cx="17647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7900"/>
                </a:solidFill>
                <a:latin typeface="Arial"/>
              </a:rPr>
              <a:t>static/tv.html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395728"/>
            <a:ext cx="1837943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Envía consulta por texto o voz junto a su session_id vía POST /api/chat.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87751" y="2606040"/>
            <a:ext cx="155448" cy="292608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70632" y="1371600"/>
            <a:ext cx="205740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1435608"/>
            <a:ext cx="1911095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Paso 2 ▪ API y Memoria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1847088"/>
            <a:ext cx="2057400" cy="2148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1975104"/>
            <a:ext cx="1837943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936" y="2011680"/>
            <a:ext cx="17647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7900"/>
                </a:solidFill>
                <a:latin typeface="Arial"/>
              </a:rPr>
              <a:t>server.py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395728"/>
            <a:ext cx="1837943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FastAPI recupera el historial de la sesión y pasa el mensaje al Runner de Google ADK.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55464" y="2606040"/>
            <a:ext cx="155448" cy="292608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8344" y="1371600"/>
            <a:ext cx="205740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1435608"/>
            <a:ext cx="1911095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Paso 3 ▪ Enrutado Semántico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8344" y="1847088"/>
            <a:ext cx="2057400" cy="2148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8072" y="1975104"/>
            <a:ext cx="1837943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4648" y="2011680"/>
            <a:ext cx="17647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7900"/>
                </a:solidFill>
                <a:latin typeface="Arial"/>
              </a:rPr>
              <a:t>app/agent.py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2395728"/>
            <a:ext cx="1837943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El agente padre (TIBI) analiza la intención y delega en el sub-agente especialista.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23176" y="2606040"/>
            <a:ext cx="155448" cy="292608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06055" y="1371600"/>
            <a:ext cx="205740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9207" y="1435608"/>
            <a:ext cx="1911095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Paso 4 ▪ Tool Calling Seguro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06055" y="1847088"/>
            <a:ext cx="2057400" cy="2148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15783" y="1975104"/>
            <a:ext cx="1837943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59" y="2011680"/>
            <a:ext cx="17647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7900"/>
                </a:solidFill>
                <a:latin typeface="Arial"/>
              </a:rPr>
              <a:t>tools/tools.py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3" y="2395728"/>
            <a:ext cx="1837943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El sub-agente solicita datos obligatorios (DNI) y ejecuta la función Python determinista.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90887" y="2606040"/>
            <a:ext cx="155448" cy="292608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3768" y="1371600"/>
            <a:ext cx="205740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1435608"/>
            <a:ext cx="1911095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Paso 5 ▪ Persistencia y Respuesta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73768" y="1847088"/>
            <a:ext cx="2057400" cy="2148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83496" y="1975104"/>
            <a:ext cx="1837943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2011680"/>
            <a:ext cx="17647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7900"/>
                </a:solidFill>
                <a:latin typeface="Arial"/>
              </a:rPr>
              <a:t>CSV / excalibur_calls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3496" y="2395728"/>
            <a:ext cx="1837943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Se actualiza el CSV o se crea el ticket .txt y se devuelve confirmación al cliente.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251960"/>
            <a:ext cx="11183112" cy="2057400"/>
          </a:xfrm>
          <a:prstGeom prst="rect">
            <a:avLst/>
          </a:prstGeom>
          <a:solidFill>
            <a:srgbClr val="161616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251960"/>
            <a:ext cx="3291840" cy="2057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526280"/>
            <a:ext cx="29260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¿Por qué este pipeline destaca a nivel de ingeniería?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370832"/>
            <a:ext cx="75438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FF7900"/>
                </a:solidFill>
                <a:latin typeface="Arial"/>
              </a:rPr>
              <a:t>▪ </a:t>
            </a:r>
            <a:r>
              <a:rPr sz="1200" b="0">
                <a:solidFill>
                  <a:srgbClr val="FFFFFF"/>
                </a:solidFill>
                <a:latin typeface="Arial"/>
              </a:rPr>
              <a:t>Prevención total de alucinaciones en datos críticos: el modelo de lenguaje nunca inventa contraseñas ni asume qué paquetes tiene un cliente; está obligado a consultar tools.py.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200" b="1">
                <a:solidFill>
                  <a:srgbClr val="FF7900"/>
                </a:solidFill>
                <a:latin typeface="Arial"/>
              </a:rPr>
              <a:t>▪ </a:t>
            </a:r>
            <a:r>
              <a:rPr sz="1200" b="0">
                <a:solidFill>
                  <a:srgbClr val="FFFFFF"/>
                </a:solidFill>
                <a:latin typeface="Arial"/>
              </a:rPr>
              <a:t>Entropía criptográfica real: las contraseñas nuevas se generan con la librería secrets de Python (alfabeto alfanumérico de 10 caracteres), no mediante texto libre del LLM.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FF7900"/>
                </a:solidFill>
                <a:latin typeface="Arial"/>
              </a:rPr>
              <a:t>▪ </a:t>
            </a:r>
            <a:r>
              <a:rPr sz="1200" b="0">
                <a:solidFill>
                  <a:srgbClr val="FFFFFF"/>
                </a:solidFill>
                <a:latin typeface="Arial"/>
              </a:rPr>
              <a:t>Portabilidad total (Cloud / Local): admite tanto el proxy corporativo de MasOrange como ejecución 100% gratuita en portátil personal mediante Google Gemini o Groq.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3. Arquitectura cognitiva (Google ADK)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Diagrama de árbol: </a:t>
            </a:r>
            <a:r>
              <a:rPr sz="2500" b="1">
                <a:solidFill>
                  <a:srgbClr val="FF7900"/>
                </a:solidFill>
                <a:latin typeface="Arial"/>
              </a:rPr>
              <a:t>comportamiento del agente padre y sub-agentes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4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61872"/>
            <a:ext cx="5166360" cy="877824"/>
          </a:xfrm>
          <a:prstGeom prst="roundRect">
            <a:avLst>
              <a:gd name="adj" fmla="val 4000"/>
            </a:avLst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07592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Agente Padre Orquestador: agente_principal (TIBI)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618488"/>
            <a:ext cx="49834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Arial"/>
              </a:rPr>
              <a:t>Analiza la intención del usuario, mantiene el contexto de sesión y aplica el cortafuegos semántico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139696"/>
            <a:ext cx="45720" cy="2560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2377440"/>
            <a:ext cx="827532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2377440"/>
            <a:ext cx="45720" cy="2560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377440"/>
            <a:ext cx="45720" cy="2560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95560" y="2377440"/>
            <a:ext cx="45720" cy="2560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633472"/>
            <a:ext cx="3108960" cy="749808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905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88336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FF7900"/>
                </a:solidFill>
                <a:latin typeface="Arial"/>
              </a:rPr>
              <a:t>Rama 1 ▪ Cortafuegos (Guardrail)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62656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Peticiones fuera de dominio (ej. comprar lavadora) o intentos de Jailbreak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3383280"/>
            <a:ext cx="45720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3108960" cy="2606040"/>
          </a:xfrm>
          <a:prstGeom prst="rect">
            <a:avLst/>
          </a:prstGeom>
          <a:solidFill>
            <a:srgbClr val="161616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3108960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12463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Acción directa (Sin sub-agentes)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096512"/>
            <a:ext cx="288036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FF7900"/>
                </a:solidFill>
                <a:latin typeface="Arial"/>
              </a:rPr>
              <a:t>▪ </a:t>
            </a:r>
            <a:r>
              <a:rPr sz="1050" b="0">
                <a:solidFill>
                  <a:srgbClr val="FFFFFF"/>
                </a:solidFill>
                <a:latin typeface="Arial"/>
              </a:rPr>
              <a:t>No invoca ninguna herramienta ni accede a los CSV.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FF7900"/>
                </a:solidFill>
                <a:latin typeface="Arial"/>
              </a:rPr>
              <a:t>▪ </a:t>
            </a:r>
            <a:r>
              <a:rPr sz="1050" b="0">
                <a:solidFill>
                  <a:srgbClr val="FFFFFF"/>
                </a:solidFill>
                <a:latin typeface="Arial"/>
              </a:rPr>
              <a:t>Bloquea fugas de información ante ataques de Prompt Injection.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50" b="1">
                <a:solidFill>
                  <a:srgbClr val="FF7900"/>
                </a:solidFill>
                <a:latin typeface="Arial"/>
              </a:rPr>
              <a:t>▪ </a:t>
            </a:r>
            <a:r>
              <a:rPr sz="1050" b="0">
                <a:solidFill>
                  <a:srgbClr val="FFFFFF"/>
                </a:solidFill>
                <a:latin typeface="Arial"/>
              </a:rPr>
              <a:t>Reconduce educadamente al usuario hacia las 2 únicas ramas válidas: contraseñas o plataformas SVA.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633472"/>
            <a:ext cx="3840480" cy="749808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254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2688336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FF7900"/>
                </a:solidFill>
                <a:latin typeface="Arial"/>
              </a:rPr>
              <a:t>Rama 2 ▪ Sub-Agente: agente_contrasena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2962656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Especialista en acceso y restablecimiento de credenciales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383280"/>
            <a:ext cx="45720" cy="228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80" y="3611880"/>
            <a:ext cx="3474720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3657600"/>
            <a:ext cx="32918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1">
                <a:solidFill>
                  <a:srgbClr val="FF7900"/>
                </a:solidFill>
                <a:latin typeface="Arial"/>
              </a:rPr>
              <a:t>Tool: restablecer_contrasena(dni, login)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895344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Cruza DNI + Teléfono en cliente_credencial 1.csv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4233672"/>
            <a:ext cx="45720" cy="1828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00600" y="4416552"/>
            <a:ext cx="2011680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600" y="4416552"/>
            <a:ext cx="36576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75704" y="4416552"/>
            <a:ext cx="36576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4617720"/>
            <a:ext cx="1847088" cy="1645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8" y="4681728"/>
            <a:ext cx="1719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Datos correctos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0208" y="4956048"/>
            <a:ext cx="171907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0">
                <a:solidFill>
                  <a:srgbClr val="000000"/>
                </a:solidFill>
                <a:latin typeface="Arial"/>
              </a:rPr>
              <a:t>Genera clave segura (10 caract.), sobrescribe el CSV en vivo y la muestra al cliente.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9592" y="4617720"/>
            <a:ext cx="1847088" cy="1645920"/>
          </a:xfrm>
          <a:prstGeom prst="rect">
            <a:avLst/>
          </a:prstGeom>
          <a:solidFill>
            <a:srgbClr val="161616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4681728"/>
            <a:ext cx="1719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7900"/>
                </a:solidFill>
                <a:latin typeface="Arial"/>
              </a:rPr>
              <a:t>Datos no válidos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956048"/>
            <a:ext cx="171907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Arial"/>
              </a:rPr>
              <a:t>Deniega el cambio sin revelar qué dato falló y permite volver a intentarlo.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2633472"/>
            <a:ext cx="3730752" cy="749808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254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2688336"/>
            <a:ext cx="35478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FF7900"/>
                </a:solidFill>
                <a:latin typeface="Arial"/>
              </a:rPr>
              <a:t>Rama 3 ▪ Sub-Agente: agente_servicios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2962656"/>
            <a:ext cx="3547872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Especialista en SVA (Netflix, HBO y Prime Video)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0656" y="3383280"/>
            <a:ext cx="45720" cy="228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92440" y="3611880"/>
            <a:ext cx="3456432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3657600"/>
            <a:ext cx="3273552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1">
                <a:solidFill>
                  <a:srgbClr val="FF7900"/>
                </a:solidFill>
                <a:latin typeface="Arial"/>
              </a:rPr>
              <a:t>Tool 1: verificar_servicio_cliente(dni, sva)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3895344"/>
            <a:ext cx="3273552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Comprueba contrato activo en servicios_cliente 1.csv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0656" y="4233672"/>
            <a:ext cx="45720" cy="1828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23960" y="4416552"/>
            <a:ext cx="2011680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23960" y="4416552"/>
            <a:ext cx="36576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799064" y="4416552"/>
            <a:ext cx="36576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55279" y="4617720"/>
            <a:ext cx="1810512" cy="1645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10144" y="4681728"/>
            <a:ext cx="170078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SVA contratado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0144" y="4956048"/>
            <a:ext cx="1700784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0">
                <a:solidFill>
                  <a:srgbClr val="000000"/>
                </a:solidFill>
                <a:latin typeface="Arial"/>
              </a:rPr>
              <a:t>Ejecuta llamar_excalibur(): crea ticket .txt en excalibur_calls/ y confirma escalado.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4617720"/>
            <a:ext cx="1810512" cy="1645920"/>
          </a:xfrm>
          <a:prstGeom prst="rect">
            <a:avLst/>
          </a:prstGeom>
          <a:solidFill>
            <a:srgbClr val="161616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30384" y="4681728"/>
            <a:ext cx="170078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7900"/>
                </a:solidFill>
                <a:latin typeface="Arial"/>
              </a:rPr>
              <a:t>No contratado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0384" y="4956048"/>
            <a:ext cx="1700784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Arial"/>
              </a:rPr>
              <a:t>No abre ticket falso en Excalibur e informa al cliente que no figura activo.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4. Persistencia de datos y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Bases de datos simuladas </a:t>
            </a:r>
            <a:r>
              <a:rPr sz="2500" b="1">
                <a:solidFill>
                  <a:srgbClr val="FF7900"/>
                </a:solidFill>
                <a:latin typeface="Arial"/>
              </a:rPr>
              <a:t>y almacén de tickets Excalibur (.txt)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40680" cy="4937760"/>
          </a:xfrm>
          <a:prstGeom prst="rect">
            <a:avLst/>
          </a:prstGeom>
          <a:solidFill>
            <a:srgbClr val="161616"/>
          </a:solidFill>
          <a:ln w="1905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40680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99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1. Bases de datos locales (Carpeta ficheros/)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07492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cliente_credencial 1.csv (10.000 registros): almacena DNI, teléfono (login) y contraseña actual. Se actualiza en vivo cuando restablecer_contrasena() valida al cliente.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servicios_cliente 1.csv: relaciona cada DNI con sus paquetes SVA contratados (NETFLIX, HBO, PRIME). Permite validar antes de escalar.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5074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FF7900"/>
                </a:solidFill>
                <a:latin typeface="Arial"/>
              </a:rPr>
              <a:t>Ejemplos reales de clientes para pruebas en la Demo: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5074920" cy="347472"/>
          </a:xfrm>
          <a:prstGeom prst="rect">
            <a:avLst/>
          </a:prstGeom>
          <a:solidFill>
            <a:srgbClr val="FF7900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6052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DNI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6052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60520"/>
            <a:ext cx="2423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Servicios Activos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98848"/>
            <a:ext cx="5074920" cy="347472"/>
          </a:xfrm>
          <a:prstGeom prst="rect">
            <a:avLst/>
          </a:prstGeom>
          <a:solidFill>
            <a:srgbClr val="000000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44568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24942603T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44568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914942603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44568"/>
            <a:ext cx="2423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7900"/>
                </a:solidFill>
                <a:latin typeface="Arial"/>
              </a:rPr>
              <a:t>NETFLIX, HBO, PRIME (Todos)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82896"/>
            <a:ext cx="5074920" cy="347472"/>
          </a:xfrm>
          <a:prstGeom prst="rect">
            <a:avLst/>
          </a:prstGeom>
          <a:solidFill>
            <a:srgbClr val="000000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28616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95822412L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928616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985822412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928616"/>
            <a:ext cx="2423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7900"/>
                </a:solidFill>
                <a:latin typeface="Arial"/>
              </a:rPr>
              <a:t>Solo NETFLIX (Sin HBO/Prime)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66944"/>
            <a:ext cx="5074920" cy="347472"/>
          </a:xfrm>
          <a:prstGeom prst="rect">
            <a:avLst/>
          </a:prstGeom>
          <a:solidFill>
            <a:srgbClr val="000000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12664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83197857A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312664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998847493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312664"/>
            <a:ext cx="2423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7900"/>
                </a:solidFill>
                <a:latin typeface="Arial"/>
              </a:rPr>
              <a:t>Solo PRIME (Sin Netflix/HBO)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650992"/>
            <a:ext cx="5074920" cy="347472"/>
          </a:xfrm>
          <a:prstGeom prst="rect">
            <a:avLst/>
          </a:prstGeom>
          <a:solidFill>
            <a:srgbClr val="000000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69671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13356886G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696712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903356886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696712"/>
            <a:ext cx="2423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7900"/>
                </a:solidFill>
                <a:latin typeface="Arial"/>
              </a:rPr>
              <a:t>NETFLIX y HBO (Sin Prime)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5468112" cy="4937760"/>
          </a:xfrm>
          <a:prstGeom prst="rect">
            <a:avLst/>
          </a:prstGeom>
          <a:solidFill>
            <a:srgbClr val="161616"/>
          </a:solidFill>
          <a:ln w="1905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325880"/>
            <a:ext cx="5468112" cy="47548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399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2. Almacén de peticiones escaladas (excalibur_calls/)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920240"/>
            <a:ext cx="5102352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Cada vez que un cliente con servicio activo reporta una caída técnica, llamar_excalibur() genera un fichero .txt único con sello temporal y DNI.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Garantiza auditoría completa: qué cliente abrió la petición, a qué hora exacta, sobre qué plataforma y con qué síntoma.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520440"/>
            <a:ext cx="5102352" cy="2514600"/>
          </a:xfrm>
          <a:prstGeom prst="rect">
            <a:avLst/>
          </a:prstGeom>
          <a:solidFill>
            <a:srgbClr val="000000"/>
          </a:solidFill>
          <a:ln w="1524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593592"/>
            <a:ext cx="4846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7900"/>
                </a:solidFill>
                <a:latin typeface="Arial"/>
              </a:rPr>
              <a:t>Fichero: excalibur_calls/excalibur_20261021_130659_24942603T.txt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931920"/>
            <a:ext cx="484632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============================================================
LLAMADA A EXCALIBUR — INCIDENCIA DE SERVICIO
============================================================
Fecha y hora : 2026-10-21 13:06:59
DNI cliente  : 24942603T
Servicio     : HBO
Descripción  : No funciona la aplicación de HBO
Estado       : PENDIENTE DE RESOLUCIÓN
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1323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91440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5. Experiencia de usuario e integración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Dónde se encuentra el agente: </a:t>
            </a:r>
            <a:r>
              <a:rPr sz="2500" b="1">
                <a:solidFill>
                  <a:srgbClr val="FF7900"/>
                </a:solidFill>
                <a:latin typeface="Arial"/>
              </a:rPr>
              <a:t>interfaz MasOrange TV con TIBI desplegado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794760" cy="4937760"/>
          </a:xfrm>
          <a:prstGeom prst="rect">
            <a:avLst/>
          </a:prstGeom>
          <a:solidFill>
            <a:srgbClr val="161616"/>
          </a:solidFill>
          <a:ln w="1905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379476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99032"/>
            <a:ext cx="35204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Integración nativa en MasOrange 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01952"/>
            <a:ext cx="3493008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Ubicación accesible: botón flotante naranja en la esquina inferior derecha del portal web de televisión (static/tv.html).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Asistente contextual sin salir del contenido: el usuario puede resolver un fallo de acceso o reportar una caída de Netflix/HBO/Prime sin abandonar la pantalla principal.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Soporte multimodal (Texto y Voz): incorpora reconocimiento de voz en navegador (Web Speech API) además de entrada por teclado.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150" b="1">
                <a:solidFill>
                  <a:srgbClr val="FF7900"/>
                </a:solidFill>
                <a:latin typeface="Arial"/>
              </a:rPr>
              <a:t>▪ </a:t>
            </a:r>
            <a:r>
              <a:rPr sz="1150" b="0">
                <a:solidFill>
                  <a:srgbClr val="FFFFFF"/>
                </a:solidFill>
                <a:latin typeface="Arial"/>
              </a:rPr>
              <a:t>Gestión inteligente de ciclo de vida: conexión WebSocket (/ws/heartbeat) que mantiene vivo el servidor y lo cierra limpiamente al cerrar la pestaña.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325880"/>
            <a:ext cx="7205472" cy="4937760"/>
          </a:xfrm>
          <a:prstGeom prst="rect">
            <a:avLst/>
          </a:prstGeom>
          <a:solidFill>
            <a:srgbClr val="161616"/>
          </a:solidFill>
          <a:ln w="254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ptura_interfaz_ti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08760"/>
            <a:ext cx="6931152" cy="318805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617720" y="4892040"/>
            <a:ext cx="6931152" cy="1207008"/>
          </a:xfrm>
          <a:prstGeom prst="rect">
            <a:avLst/>
          </a:prstGeom>
          <a:solidFill>
            <a:srgbClr val="00000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956048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F7900"/>
                </a:solidFill>
                <a:latin typeface="Arial"/>
              </a:rPr>
              <a:t>Vista real del entorno local (http://localhost:8000)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248656"/>
            <a:ext cx="66751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A la izquierda, el catálogo de contenidos de MasOrange TV; a la derecha, el panel desplegado de TIBI saludando al cliente y mostrando sus dos áreas de actuación: problemas de contraseña e incidencias en Netflix, HBO o Prime.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21488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61872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Demostración práctica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5000" b="1">
                <a:solidFill>
                  <a:srgbClr val="000000"/>
                </a:solidFill>
                <a:latin typeface="Arial"/>
              </a:rPr>
              <a:t>Ahora vamos con 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56432"/>
            <a:ext cx="10725912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7900"/>
                </a:solidFill>
                <a:latin typeface="Arial"/>
              </a:rPr>
              <a:t>Hoja de ruta de los escenarios a validar en vivo: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13632"/>
            <a:ext cx="2029968" cy="2148840"/>
          </a:xfrm>
          <a:prstGeom prst="rect">
            <a:avLst/>
          </a:prstGeom>
          <a:solidFill>
            <a:srgbClr val="161616"/>
          </a:solidFill>
          <a:ln w="1778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913632"/>
            <a:ext cx="2029968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77639"/>
            <a:ext cx="188366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Caso 1 ▪ Contraseña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847088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DNI + Teléfono válidos -&gt; Genera nueva clave y muta el CSV en vivo.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3913632"/>
            <a:ext cx="2029968" cy="2148840"/>
          </a:xfrm>
          <a:prstGeom prst="rect">
            <a:avLst/>
          </a:prstGeom>
          <a:solidFill>
            <a:srgbClr val="161616"/>
          </a:solidFill>
          <a:ln w="1778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3913632"/>
            <a:ext cx="2029968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3977639"/>
            <a:ext cx="188366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Caso 2 ▪ Login erróneo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434840"/>
            <a:ext cx="1847088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Credenciales que no coinciden -&gt; Deniega sin filtrar qué dato falló.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4064" y="3913632"/>
            <a:ext cx="2029968" cy="2148840"/>
          </a:xfrm>
          <a:prstGeom prst="rect">
            <a:avLst/>
          </a:prstGeom>
          <a:solidFill>
            <a:srgbClr val="161616"/>
          </a:solidFill>
          <a:ln w="1778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4064" y="3913632"/>
            <a:ext cx="2029968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3977639"/>
            <a:ext cx="188366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Caso 3 ▪ SVA contratado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3" y="4434840"/>
            <a:ext cx="1847088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Fallo en HBO / Netflix activo -&gt; Crea ticket .txt en excalibur_calls/.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0336" y="3913632"/>
            <a:ext cx="2029968" cy="2148840"/>
          </a:xfrm>
          <a:prstGeom prst="rect">
            <a:avLst/>
          </a:prstGeom>
          <a:solidFill>
            <a:srgbClr val="161616"/>
          </a:solidFill>
          <a:ln w="1778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0336" y="3913632"/>
            <a:ext cx="2029968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3977639"/>
            <a:ext cx="188366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Caso 4 ▪ SVA no activo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4434840"/>
            <a:ext cx="1847088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Reclama un SVA que no tiene contratado -&gt; Bloquea apertura de ticket.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3913632"/>
            <a:ext cx="2029968" cy="2148840"/>
          </a:xfrm>
          <a:prstGeom prst="rect">
            <a:avLst/>
          </a:prstGeom>
          <a:solidFill>
            <a:srgbClr val="161616"/>
          </a:solidFill>
          <a:ln w="1778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36608" y="3913632"/>
            <a:ext cx="2029968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977639"/>
            <a:ext cx="188366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7900"/>
                </a:solidFill>
                <a:latin typeface="Arial"/>
              </a:rPr>
              <a:t>Caso 5 ▪ Cortafuegos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434840"/>
            <a:ext cx="1847088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Petición fuera de lugar (comprar una lavadora) -&gt; Rechazo elegante.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TIBI ▪ Agente IA de soporte técnico MasOrange TV ▪ TFG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11712" y="6547104"/>
            <a:ext cx="274320" cy="20116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6537960"/>
            <a:ext cx="621792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FF7900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731520"/>
            <a:ext cx="1051560" cy="1051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7072" y="1051560"/>
            <a:ext cx="914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377440"/>
            <a:ext cx="32918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Repositorio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2816352"/>
            <a:ext cx="219456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971800"/>
            <a:ext cx="32918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github.com/DanielBraun11/TIBI_AgenteIA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Incluye código fuente completo, arquitectura detallada (README.md) y batería de pruebas (CASOS_DE_PRUEBA_DEMO.md).</a:t>
            </a:r>
          </a:p>
          <a:p>
            <a:pPr algn="l">
              <a:spcBef>
                <a:spcPts val="2400"/>
              </a:spcBef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Daniel Braun ▪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46304" cy="32918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6492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7900"/>
                </a:solidFill>
                <a:latin typeface="Arial"/>
              </a:rPr>
              <a:t>Defensa de Trabajo de Fin de 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6492240" cy="1691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Muchas gracias por su atención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6492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Quedo a disposición del tribunal para responder a cualquier pregunta sobre la arquitectura, el sistema multi-agente o la demostración.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